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4" r:id="rId4"/>
    <p:sldId id="259" r:id="rId5"/>
    <p:sldId id="262" r:id="rId6"/>
    <p:sldId id="263" r:id="rId7"/>
  </p:sldIdLst>
  <p:sldSz cx="18288000" cy="10287000"/>
  <p:notesSz cx="6858000" cy="9144000"/>
  <p:embeddedFontLst>
    <p:embeddedFont>
      <p:font typeface="Arial Bold" panose="020B0704020202020204" pitchFamily="34" charset="0"/>
      <p:regular r:id="rId9"/>
      <p:bold r:id="rId10"/>
    </p:embeddedFont>
    <p:embeddedFont>
      <p:font typeface="Cambria" panose="02040503050406030204" pitchFamily="18" charset="0"/>
      <p:regular r:id="rId11"/>
      <p:bold r:id="rId12"/>
      <p:italic r:id="rId13"/>
      <p:boldItalic r:id="rId14"/>
    </p:embeddedFont>
    <p:embeddedFont>
      <p:font typeface="Garamond Bold" panose="02020804030307010803" pitchFamily="18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E7C9"/>
    <a:srgbClr val="8B500F"/>
    <a:srgbClr val="DCFCE7"/>
    <a:srgbClr val="215968"/>
    <a:srgbClr val="0000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D68701-A71D-4E87-AB26-22FC08B3783D}" v="1" dt="2026-09-05T17:30:41.2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25" autoAdjust="0"/>
    <p:restoredTop sz="95196" autoAdjust="0"/>
  </p:normalViewPr>
  <p:slideViewPr>
    <p:cSldViewPr>
      <p:cViewPr>
        <p:scale>
          <a:sx n="46" d="100"/>
          <a:sy n="46" d="100"/>
        </p:scale>
        <p:origin x="1661" y="41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7"/>
    </p:cViewPr>
  </p:sorterViewPr>
  <p:notesViewPr>
    <p:cSldViewPr>
      <p:cViewPr varScale="1">
        <p:scale>
          <a:sx n="65" d="100"/>
          <a:sy n="65" d="100"/>
        </p:scale>
        <p:origin x="3154" y="2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7632D-5D22-4C77-A663-2CBEB70F7510}" type="datetimeFigureOut">
              <a:rPr lang="en-IN" smtClean="0"/>
              <a:t>07-09-2026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345642-8F97-4160-B851-756EE637B0E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6633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45642-8F97-4160-B851-756EE637B0E2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579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345642-8F97-4160-B851-756EE637B0E2}" type="slidenum">
              <a:rPr lang="en-IN" smtClean="0"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3757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25417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114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131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svg"/><Relationship Id="rId3" Type="http://schemas.openxmlformats.org/officeDocument/2006/relationships/image" Target="../media/image31.png"/><Relationship Id="rId7" Type="http://schemas.openxmlformats.org/officeDocument/2006/relationships/image" Target="../media/image35.svg"/><Relationship Id="rId12" Type="http://schemas.openxmlformats.org/officeDocument/2006/relationships/image" Target="../media/image4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39.sv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893608026001309?utm_source=chatgpt.com" TargetMode="External"/><Relationship Id="rId13" Type="http://schemas.openxmlformats.org/officeDocument/2006/relationships/hyperlink" Target="https://react.dev/?utm_source=chatgpt.com" TargetMode="External"/><Relationship Id="rId18" Type="http://schemas.openxmlformats.org/officeDocument/2006/relationships/hyperlink" Target="https://docs.langchain.com/oss/python/langgraph/overview?utm_source=chatgpt.com" TargetMode="External"/><Relationship Id="rId3" Type="http://schemas.openxmlformats.org/officeDocument/2006/relationships/hyperlink" Target="https://www.sciencedirect.com/science/article/pii/S0168169926007866?utm_source=chatgpt.com" TargetMode="External"/><Relationship Id="rId21" Type="http://schemas.openxmlformats.org/officeDocument/2006/relationships/hyperlink" Target="https://qdrant.tech/documentation/quickstart/?utm_source=chatgpt.com" TargetMode="External"/><Relationship Id="rId7" Type="http://schemas.openxmlformats.org/officeDocument/2006/relationships/hyperlink" Target="https://www.sciencedirect.com/science/article/abs/pii/S0926580526001925" TargetMode="External"/><Relationship Id="rId12" Type="http://schemas.openxmlformats.org/officeDocument/2006/relationships/hyperlink" Target="https://www.udemy.com/?utm_source=chatgpt.com" TargetMode="External"/><Relationship Id="rId17" Type="http://schemas.openxmlformats.org/officeDocument/2006/relationships/hyperlink" Target="https://docs.ollama.com/?utm_source=chatgpt.com" TargetMode="External"/><Relationship Id="rId2" Type="http://schemas.openxmlformats.org/officeDocument/2006/relationships/image" Target="../media/image25.png"/><Relationship Id="rId16" Type="http://schemas.openxmlformats.org/officeDocument/2006/relationships/hyperlink" Target="https://docs.docker.com/get-started/docker-overview/?utm_source=chatgpt.com" TargetMode="External"/><Relationship Id="rId20" Type="http://schemas.openxmlformats.org/officeDocument/2006/relationships/hyperlink" Target="https://www.ibm.com/think/topics/agentic-automation?utm_source=chatgpt.com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sciencedirect.com/science/article/pii/S0360835226004869" TargetMode="External"/><Relationship Id="rId11" Type="http://schemas.openxmlformats.org/officeDocument/2006/relationships/hyperlink" Target="https://www.youtube.com/?utm_source=chatgpt.com" TargetMode="External"/><Relationship Id="rId5" Type="http://schemas.openxmlformats.org/officeDocument/2006/relationships/hyperlink" Target="https://www.sciencedirect.com/science/article/pii/S0950584926002491?utm_source=chatgpt.com" TargetMode="External"/><Relationship Id="rId15" Type="http://schemas.openxmlformats.org/officeDocument/2006/relationships/hyperlink" Target="https://docs.python.org/3/?utm_source=chatgpt.com" TargetMode="External"/><Relationship Id="rId23" Type="http://schemas.openxmlformats.org/officeDocument/2006/relationships/hyperlink" Target="https://huggingface.co/blog/daya-shankar/cloud-servers-vs-physical-servers?utm_source=chatgpt.com" TargetMode="External"/><Relationship Id="rId10" Type="http://schemas.openxmlformats.org/officeDocument/2006/relationships/hyperlink" Target="https://claude.ai/?utm_source=chatgpt.com" TargetMode="External"/><Relationship Id="rId19" Type="http://schemas.openxmlformats.org/officeDocument/2006/relationships/hyperlink" Target="https://neo4j.com/docs/?utm_source=chatgpt.com" TargetMode="External"/><Relationship Id="rId4" Type="http://schemas.openxmlformats.org/officeDocument/2006/relationships/hyperlink" Target="https://www.sciencedirect.com/science/article/pii/S2589750026000920" TargetMode="External"/><Relationship Id="rId9" Type="http://schemas.openxmlformats.org/officeDocument/2006/relationships/hyperlink" Target="https://chatgpt.com/?utm_source=chatgpt.com" TargetMode="External"/><Relationship Id="rId14" Type="http://schemas.openxmlformats.org/officeDocument/2006/relationships/hyperlink" Target="https://nodejs.org/docs/latest/api/?utm_source=chatgpt.com" TargetMode="External"/><Relationship Id="rId22" Type="http://schemas.openxmlformats.org/officeDocument/2006/relationships/hyperlink" Target="https://huggingface.co/blog/daya-shankar/open-source-llm-models-to-run-locally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94002" y="1769722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12073505" y="3399005"/>
            <a:ext cx="5478405" cy="5859295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49475" b="-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332598" y="-653334"/>
            <a:ext cx="15544800" cy="2423055"/>
            <a:chOff x="0" y="0"/>
            <a:chExt cx="20726400" cy="32307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726400" cy="3230740"/>
            </a:xfrm>
            <a:custGeom>
              <a:avLst/>
              <a:gdLst/>
              <a:ahLst/>
              <a:cxnLst/>
              <a:rect l="l" t="t" r="r" b="b"/>
              <a:pathLst>
                <a:path w="20726400" h="3230740">
                  <a:moveTo>
                    <a:pt x="0" y="0"/>
                  </a:moveTo>
                  <a:lnTo>
                    <a:pt x="20726400" y="0"/>
                  </a:lnTo>
                  <a:lnTo>
                    <a:pt x="20726400" y="3230740"/>
                  </a:lnTo>
                  <a:lnTo>
                    <a:pt x="0" y="32307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t="-60732" b="-89275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726400" cy="32497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 dirty="0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5140" y="1423471"/>
            <a:ext cx="11554602" cy="7834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52"/>
              </a:lnSpc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50905" lvl="1" indent="-275452" algn="just">
              <a:lnSpc>
                <a:spcPts val="7305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Problem Statement ID - SIH26117</a:t>
            </a:r>
          </a:p>
          <a:p>
            <a:pPr marL="550905" lvl="1" indent="-275452" algn="just">
              <a:lnSpc>
                <a:spcPts val="7305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Problem Statement Title - Sovereign On-Premise Agentic AI Workbench Using Open - Weight Multimodal LLms for Confidential Industrial Work.</a:t>
            </a:r>
          </a:p>
          <a:p>
            <a:pPr marL="550905" lvl="1" indent="-275452" algn="just">
              <a:lnSpc>
                <a:spcPts val="7305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Theme - Smart Automation</a:t>
            </a:r>
          </a:p>
          <a:p>
            <a:pPr marL="550905" lvl="1" indent="-275452" algn="just">
              <a:lnSpc>
                <a:spcPts val="7305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PS Category - Software</a:t>
            </a:r>
          </a:p>
          <a:p>
            <a:pPr marL="550905" lvl="1" indent="-275452" algn="just">
              <a:lnSpc>
                <a:spcPts val="7305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Team ID - </a:t>
            </a:r>
          </a:p>
          <a:p>
            <a:pPr marL="550905" lvl="1" indent="-275452" algn="just">
              <a:lnSpc>
                <a:spcPts val="7305"/>
              </a:lnSpc>
              <a:buFont typeface="Arial"/>
              <a:buChar char="•"/>
            </a:pPr>
            <a:r>
              <a:rPr lang="en-US" sz="3600" b="1" dirty="0">
                <a:latin typeface="Arial" panose="020B0604020202020204" pitchFamily="34" charset="0"/>
                <a:ea typeface="Arial Bold"/>
                <a:cs typeface="Arial" panose="020B0604020202020204" pitchFamily="34" charset="0"/>
                <a:sym typeface="Arial Bold"/>
              </a:rPr>
              <a:t>Team Name - Tech Udaan  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b="1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A9C4F82E-DEB9-E59E-978A-9AE1F123E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136" y="751619"/>
            <a:ext cx="1813662" cy="15257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35B2FB-D32E-70E7-CE9F-2BAD399F5C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308"/>
          <a:stretch>
            <a:fillRect/>
          </a:stretch>
        </p:blipFill>
        <p:spPr>
          <a:xfrm>
            <a:off x="2601798" y="94070"/>
            <a:ext cx="15582507" cy="120191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5472A32-A7A5-47A4-77B5-885A05D83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948" y="297925"/>
            <a:ext cx="4883571" cy="832169"/>
          </a:xfrm>
          <a:prstGeom prst="rect">
            <a:avLst/>
          </a:prstGeom>
        </p:spPr>
      </p:pic>
      <p:sp>
        <p:nvSpPr>
          <p:cNvPr id="4" name="Text 2">
            <a:extLst>
              <a:ext uri="{FF2B5EF4-FFF2-40B4-BE49-F238E27FC236}">
                <a16:creationId xmlns:a16="http://schemas.microsoft.com/office/drawing/2014/main" id="{22FEB734-8FE1-D1DD-4DFC-E3EE8DBAF0DA}"/>
              </a:ext>
            </a:extLst>
          </p:cNvPr>
          <p:cNvSpPr/>
          <p:nvPr/>
        </p:nvSpPr>
        <p:spPr>
          <a:xfrm>
            <a:off x="2935807" y="240975"/>
            <a:ext cx="1289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40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SOVEREIGN ON-PREMISE AI  WORKBENCH         </a:t>
            </a:r>
          </a:p>
        </p:txBody>
      </p:sp>
      <p:sp>
        <p:nvSpPr>
          <p:cNvPr id="72" name="Text 7">
            <a:extLst>
              <a:ext uri="{FF2B5EF4-FFF2-40B4-BE49-F238E27FC236}">
                <a16:creationId xmlns:a16="http://schemas.microsoft.com/office/drawing/2014/main" id="{E017A45C-CA45-E28C-1C19-BDB00F733CBA}"/>
              </a:ext>
            </a:extLst>
          </p:cNvPr>
          <p:cNvSpPr txBox="1"/>
          <p:nvPr/>
        </p:nvSpPr>
        <p:spPr>
          <a:xfrm>
            <a:off x="850392" y="21122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4" name="Text 7">
            <a:extLst>
              <a:ext uri="{FF2B5EF4-FFF2-40B4-BE49-F238E27FC236}">
                <a16:creationId xmlns:a16="http://schemas.microsoft.com/office/drawing/2014/main" id="{9F749C5D-DCEA-4AF8-BCA4-9AFD186899D5}"/>
              </a:ext>
            </a:extLst>
          </p:cNvPr>
          <p:cNvSpPr txBox="1"/>
          <p:nvPr/>
        </p:nvSpPr>
        <p:spPr>
          <a:xfrm>
            <a:off x="1002792" y="2264664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dirty="0"/>
          </a:p>
        </p:txBody>
      </p:sp>
      <p:sp>
        <p:nvSpPr>
          <p:cNvPr id="75" name="Shape 6">
            <a:extLst>
              <a:ext uri="{FF2B5EF4-FFF2-40B4-BE49-F238E27FC236}">
                <a16:creationId xmlns:a16="http://schemas.microsoft.com/office/drawing/2014/main" id="{D4B06EB2-3E39-9DE1-2DB4-8E0AF5651694}"/>
              </a:ext>
            </a:extLst>
          </p:cNvPr>
          <p:cNvSpPr/>
          <p:nvPr/>
        </p:nvSpPr>
        <p:spPr>
          <a:xfrm>
            <a:off x="646176" y="167739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6" name="Text 7">
            <a:extLst>
              <a:ext uri="{FF2B5EF4-FFF2-40B4-BE49-F238E27FC236}">
                <a16:creationId xmlns:a16="http://schemas.microsoft.com/office/drawing/2014/main" id="{7B367CEA-AFD5-2357-25F0-75C6BC0CCCBD}"/>
              </a:ext>
            </a:extLst>
          </p:cNvPr>
          <p:cNvSpPr txBox="1"/>
          <p:nvPr/>
        </p:nvSpPr>
        <p:spPr>
          <a:xfrm>
            <a:off x="641581" y="1663521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77" name="Text 8">
            <a:extLst>
              <a:ext uri="{FF2B5EF4-FFF2-40B4-BE49-F238E27FC236}">
                <a16:creationId xmlns:a16="http://schemas.microsoft.com/office/drawing/2014/main" id="{14AF5D44-F780-0E49-A504-AB6C1BB7B383}"/>
              </a:ext>
            </a:extLst>
          </p:cNvPr>
          <p:cNvSpPr txBox="1"/>
          <p:nvPr/>
        </p:nvSpPr>
        <p:spPr>
          <a:xfrm>
            <a:off x="1456921" y="1629100"/>
            <a:ext cx="693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1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Proposed </a:t>
            </a:r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3150" dirty="0"/>
          </a:p>
        </p:txBody>
      </p:sp>
      <p:sp>
        <p:nvSpPr>
          <p:cNvPr id="78" name="Text 9">
            <a:extLst>
              <a:ext uri="{FF2B5EF4-FFF2-40B4-BE49-F238E27FC236}">
                <a16:creationId xmlns:a16="http://schemas.microsoft.com/office/drawing/2014/main" id="{9CF0F19C-AA4B-C9EF-589C-71E4CF55A057}"/>
              </a:ext>
            </a:extLst>
          </p:cNvPr>
          <p:cNvSpPr txBox="1"/>
          <p:nvPr/>
        </p:nvSpPr>
        <p:spPr>
          <a:xfrm>
            <a:off x="1689038" y="2468880"/>
            <a:ext cx="8293161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 —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Plans tasks and manages multi-agent execution.</a:t>
            </a:r>
            <a:endParaRPr lang="en-US" sz="2000" dirty="0"/>
          </a:p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Local AI Stack —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LLMs, VLMs &amp; embedding models.</a:t>
            </a:r>
            <a:endParaRPr lang="en-US" sz="2000" dirty="0"/>
          </a:p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Hybrid Knowledge Layer —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RAG + Knowledge Graphs for grounded reasoning.</a:t>
            </a:r>
            <a:endParaRPr lang="en-US" sz="2000" dirty="0"/>
          </a:p>
        </p:txBody>
      </p:sp>
      <p:sp>
        <p:nvSpPr>
          <p:cNvPr id="79" name="Text 7">
            <a:extLst>
              <a:ext uri="{FF2B5EF4-FFF2-40B4-BE49-F238E27FC236}">
                <a16:creationId xmlns:a16="http://schemas.microsoft.com/office/drawing/2014/main" id="{F7736B05-073C-F027-7C7C-317799658692}"/>
              </a:ext>
            </a:extLst>
          </p:cNvPr>
          <p:cNvSpPr txBox="1"/>
          <p:nvPr/>
        </p:nvSpPr>
        <p:spPr>
          <a:xfrm>
            <a:off x="1014102" y="484731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80" name="Text 7">
            <a:extLst>
              <a:ext uri="{FF2B5EF4-FFF2-40B4-BE49-F238E27FC236}">
                <a16:creationId xmlns:a16="http://schemas.microsoft.com/office/drawing/2014/main" id="{1EC81A78-A9AF-BB94-4015-035FC28B5826}"/>
              </a:ext>
            </a:extLst>
          </p:cNvPr>
          <p:cNvSpPr txBox="1"/>
          <p:nvPr/>
        </p:nvSpPr>
        <p:spPr>
          <a:xfrm>
            <a:off x="1166502" y="499971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dirty="0"/>
          </a:p>
        </p:txBody>
      </p:sp>
      <p:sp>
        <p:nvSpPr>
          <p:cNvPr id="81" name="Shape 6">
            <a:extLst>
              <a:ext uri="{FF2B5EF4-FFF2-40B4-BE49-F238E27FC236}">
                <a16:creationId xmlns:a16="http://schemas.microsoft.com/office/drawing/2014/main" id="{7673F63F-F216-7AB3-FD2F-6575AB25FE33}"/>
              </a:ext>
            </a:extLst>
          </p:cNvPr>
          <p:cNvSpPr/>
          <p:nvPr/>
        </p:nvSpPr>
        <p:spPr>
          <a:xfrm>
            <a:off x="641581" y="428648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B3774864-6A5B-631F-66DB-DA625C7F479B}"/>
              </a:ext>
            </a:extLst>
          </p:cNvPr>
          <p:cNvSpPr txBox="1"/>
          <p:nvPr/>
        </p:nvSpPr>
        <p:spPr>
          <a:xfrm>
            <a:off x="729262" y="4423242"/>
            <a:ext cx="582310" cy="464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83" name="Text 8">
            <a:extLst>
              <a:ext uri="{FF2B5EF4-FFF2-40B4-BE49-F238E27FC236}">
                <a16:creationId xmlns:a16="http://schemas.microsoft.com/office/drawing/2014/main" id="{554DDAC4-738E-9A15-29E7-5DA60DDD9A1C}"/>
              </a:ext>
            </a:extLst>
          </p:cNvPr>
          <p:cNvSpPr txBox="1"/>
          <p:nvPr/>
        </p:nvSpPr>
        <p:spPr>
          <a:xfrm>
            <a:off x="1474858" y="4500161"/>
            <a:ext cx="693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How It Addresses the Problem</a:t>
            </a:r>
            <a:endParaRPr lang="en-US" sz="3200" dirty="0"/>
          </a:p>
          <a:p>
            <a:endParaRPr lang="en-US" sz="3150" dirty="0"/>
          </a:p>
        </p:txBody>
      </p:sp>
      <p:sp>
        <p:nvSpPr>
          <p:cNvPr id="86" name="Text 9">
            <a:extLst>
              <a:ext uri="{FF2B5EF4-FFF2-40B4-BE49-F238E27FC236}">
                <a16:creationId xmlns:a16="http://schemas.microsoft.com/office/drawing/2014/main" id="{64E18F9E-1B85-EEE9-00F0-03A63C5794E2}"/>
              </a:ext>
            </a:extLst>
          </p:cNvPr>
          <p:cNvSpPr txBox="1"/>
          <p:nvPr/>
        </p:nvSpPr>
        <p:spPr>
          <a:xfrm>
            <a:off x="1716024" y="5274692"/>
            <a:ext cx="8110282" cy="282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—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Fully on-premise  no external data exposure.</a:t>
            </a:r>
            <a:endParaRPr lang="en-US" sz="2000" dirty="0"/>
          </a:p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Reliable Outputs —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responses, hallucination-free.</a:t>
            </a:r>
          </a:p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</a:t>
            </a: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RBAC, human approvals &amp; complete audit logs.</a:t>
            </a:r>
            <a:endParaRPr lang="en-US" sz="2000" dirty="0"/>
          </a:p>
          <a:p>
            <a:pPr marL="457200" indent="-457200">
              <a:lnSpc>
                <a:spcPts val="2850"/>
              </a:lnSpc>
              <a:spcAft>
                <a:spcPts val="15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89" name="Text 17">
            <a:extLst>
              <a:ext uri="{FF2B5EF4-FFF2-40B4-BE49-F238E27FC236}">
                <a16:creationId xmlns:a16="http://schemas.microsoft.com/office/drawing/2014/main" id="{F6EB99AB-F46F-6BA9-4B73-9C460A237C4D}"/>
              </a:ext>
            </a:extLst>
          </p:cNvPr>
          <p:cNvSpPr txBox="1"/>
          <p:nvPr/>
        </p:nvSpPr>
        <p:spPr>
          <a:xfrm>
            <a:off x="7770625" y="4828189"/>
            <a:ext cx="230375" cy="315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91" name="Text 19">
            <a:extLst>
              <a:ext uri="{FF2B5EF4-FFF2-40B4-BE49-F238E27FC236}">
                <a16:creationId xmlns:a16="http://schemas.microsoft.com/office/drawing/2014/main" id="{6CCC6EBB-ED41-06E0-A967-137B685B732C}"/>
              </a:ext>
            </a:extLst>
          </p:cNvPr>
          <p:cNvSpPr txBox="1"/>
          <p:nvPr/>
        </p:nvSpPr>
        <p:spPr>
          <a:xfrm>
            <a:off x="1705513" y="8116701"/>
            <a:ext cx="3833846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Agentic Intelligence</a:t>
            </a:r>
            <a:endParaRPr lang="en-US" sz="2000" dirty="0"/>
          </a:p>
          <a:p>
            <a:pPr lvl="1" algn="just">
              <a:lnSpc>
                <a:spcPts val="1900"/>
              </a:lnSpc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collaboration &amp; RAG/Knowledge Graph, verified by an AI Trust Layer.</a:t>
            </a:r>
            <a:endParaRPr lang="en-US" sz="2400" dirty="0"/>
          </a:p>
        </p:txBody>
      </p:sp>
      <p:sp>
        <p:nvSpPr>
          <p:cNvPr id="92" name="Shape 20">
            <a:extLst>
              <a:ext uri="{FF2B5EF4-FFF2-40B4-BE49-F238E27FC236}">
                <a16:creationId xmlns:a16="http://schemas.microsoft.com/office/drawing/2014/main" id="{CC085F53-76E0-C56C-67DC-18A78656DED7}"/>
              </a:ext>
            </a:extLst>
          </p:cNvPr>
          <p:cNvSpPr/>
          <p:nvPr/>
        </p:nvSpPr>
        <p:spPr>
          <a:xfrm>
            <a:off x="5867400" y="7878510"/>
            <a:ext cx="0" cy="14081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93" name="Text 21">
            <a:extLst>
              <a:ext uri="{FF2B5EF4-FFF2-40B4-BE49-F238E27FC236}">
                <a16:creationId xmlns:a16="http://schemas.microsoft.com/office/drawing/2014/main" id="{F69F8762-A683-C96A-D004-BA586BFAFE58}"/>
              </a:ext>
            </a:extLst>
          </p:cNvPr>
          <p:cNvSpPr txBox="1"/>
          <p:nvPr/>
        </p:nvSpPr>
        <p:spPr>
          <a:xfrm>
            <a:off x="6370550" y="8099048"/>
            <a:ext cx="343601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Complete &amp; Model-Agnostic</a:t>
            </a:r>
            <a:endParaRPr lang="en-US" sz="2000" dirty="0"/>
          </a:p>
          <a:p>
            <a:pPr lvl="1">
              <a:lnSpc>
                <a:spcPts val="1900"/>
              </a:lnSpc>
              <a:spcAft>
                <a:spcPts val="600"/>
              </a:spcAft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AI workbench — new open-source models plug in without redesign.</a:t>
            </a:r>
            <a:endParaRPr lang="en-US" sz="2000" dirty="0"/>
          </a:p>
        </p:txBody>
      </p:sp>
      <p:sp>
        <p:nvSpPr>
          <p:cNvPr id="94" name="Shape 22">
            <a:extLst>
              <a:ext uri="{FF2B5EF4-FFF2-40B4-BE49-F238E27FC236}">
                <a16:creationId xmlns:a16="http://schemas.microsoft.com/office/drawing/2014/main" id="{96A7AEB9-C612-EC84-B435-335F8497525E}"/>
              </a:ext>
            </a:extLst>
          </p:cNvPr>
          <p:cNvSpPr/>
          <p:nvPr/>
        </p:nvSpPr>
        <p:spPr>
          <a:xfrm>
            <a:off x="10134600" y="7823377"/>
            <a:ext cx="0" cy="140817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95" name="Text 23">
            <a:extLst>
              <a:ext uri="{FF2B5EF4-FFF2-40B4-BE49-F238E27FC236}">
                <a16:creationId xmlns:a16="http://schemas.microsoft.com/office/drawing/2014/main" id="{C8D88A86-AA3E-25F8-1B23-318ABAC78368}"/>
              </a:ext>
            </a:extLst>
          </p:cNvPr>
          <p:cNvSpPr txBox="1"/>
          <p:nvPr/>
        </p:nvSpPr>
        <p:spPr>
          <a:xfrm>
            <a:off x="10591800" y="8099048"/>
            <a:ext cx="343601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Governed &amp; Auditable</a:t>
            </a:r>
            <a:endParaRPr lang="en-US" sz="2000" dirty="0"/>
          </a:p>
          <a:p>
            <a:pPr lvl="1">
              <a:lnSpc>
                <a:spcPts val="1900"/>
              </a:lnSpc>
              <a:spcAft>
                <a:spcPts val="600"/>
              </a:spcAft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action is policy-bound and fully traceable</a:t>
            </a:r>
            <a:r>
              <a:rPr lang="en-US" sz="20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98" name="Text 7">
            <a:extLst>
              <a:ext uri="{FF2B5EF4-FFF2-40B4-BE49-F238E27FC236}">
                <a16:creationId xmlns:a16="http://schemas.microsoft.com/office/drawing/2014/main" id="{C5CEDA1D-6F7D-17BC-EBB6-F239017C562E}"/>
              </a:ext>
            </a:extLst>
          </p:cNvPr>
          <p:cNvSpPr txBox="1"/>
          <p:nvPr/>
        </p:nvSpPr>
        <p:spPr>
          <a:xfrm>
            <a:off x="1014102" y="758232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3000" dirty="0"/>
          </a:p>
        </p:txBody>
      </p:sp>
      <p:sp>
        <p:nvSpPr>
          <p:cNvPr id="100" name="Shape 6">
            <a:extLst>
              <a:ext uri="{FF2B5EF4-FFF2-40B4-BE49-F238E27FC236}">
                <a16:creationId xmlns:a16="http://schemas.microsoft.com/office/drawing/2014/main" id="{2DFCAA06-B938-50AF-06EE-716372CF36AC}"/>
              </a:ext>
            </a:extLst>
          </p:cNvPr>
          <p:cNvSpPr/>
          <p:nvPr/>
        </p:nvSpPr>
        <p:spPr>
          <a:xfrm>
            <a:off x="641581" y="7021490"/>
            <a:ext cx="713232" cy="71323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1" name="Text 7">
            <a:extLst>
              <a:ext uri="{FF2B5EF4-FFF2-40B4-BE49-F238E27FC236}">
                <a16:creationId xmlns:a16="http://schemas.microsoft.com/office/drawing/2014/main" id="{10F489FE-490F-94C7-6F0D-2C1D0FB28E42}"/>
              </a:ext>
            </a:extLst>
          </p:cNvPr>
          <p:cNvSpPr txBox="1"/>
          <p:nvPr/>
        </p:nvSpPr>
        <p:spPr>
          <a:xfrm>
            <a:off x="729262" y="7158252"/>
            <a:ext cx="582310" cy="464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02" name="Text 8">
            <a:extLst>
              <a:ext uri="{FF2B5EF4-FFF2-40B4-BE49-F238E27FC236}">
                <a16:creationId xmlns:a16="http://schemas.microsoft.com/office/drawing/2014/main" id="{7FB22B66-4F04-B720-7731-3C824DFE2BB7}"/>
              </a:ext>
            </a:extLst>
          </p:cNvPr>
          <p:cNvSpPr txBox="1"/>
          <p:nvPr/>
        </p:nvSpPr>
        <p:spPr>
          <a:xfrm>
            <a:off x="1474858" y="6992167"/>
            <a:ext cx="693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Uniqueness</a:t>
            </a:r>
            <a:endParaRPr lang="en-US" sz="3200" dirty="0"/>
          </a:p>
        </p:txBody>
      </p:sp>
      <p:sp>
        <p:nvSpPr>
          <p:cNvPr id="103" name="Text 17">
            <a:extLst>
              <a:ext uri="{FF2B5EF4-FFF2-40B4-BE49-F238E27FC236}">
                <a16:creationId xmlns:a16="http://schemas.microsoft.com/office/drawing/2014/main" id="{D396BD4A-5DC8-D01B-BC99-F399B0DDCE17}"/>
              </a:ext>
            </a:extLst>
          </p:cNvPr>
          <p:cNvSpPr txBox="1"/>
          <p:nvPr/>
        </p:nvSpPr>
        <p:spPr>
          <a:xfrm>
            <a:off x="7770625" y="7563199"/>
            <a:ext cx="230375" cy="3153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2" name="Shape 2">
            <a:extLst>
              <a:ext uri="{FF2B5EF4-FFF2-40B4-BE49-F238E27FC236}">
                <a16:creationId xmlns:a16="http://schemas.microsoft.com/office/drawing/2014/main" id="{95E2707D-A3CD-4CE0-CC37-AF4868864186}"/>
              </a:ext>
            </a:extLst>
          </p:cNvPr>
          <p:cNvSpPr/>
          <p:nvPr/>
        </p:nvSpPr>
        <p:spPr>
          <a:xfrm>
            <a:off x="11150532" y="2149185"/>
            <a:ext cx="6317802" cy="835119"/>
          </a:xfrm>
          <a:prstGeom prst="roundRect">
            <a:avLst>
              <a:gd name="adj" fmla="val 10714"/>
            </a:avLst>
          </a:prstGeom>
          <a:solidFill>
            <a:schemeClr val="accent3">
              <a:lumMod val="20000"/>
              <a:lumOff val="80000"/>
            </a:schemeClr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33" name="Shape 3">
            <a:extLst>
              <a:ext uri="{FF2B5EF4-FFF2-40B4-BE49-F238E27FC236}">
                <a16:creationId xmlns:a16="http://schemas.microsoft.com/office/drawing/2014/main" id="{388FEBD1-C5C3-AC41-D853-F312F5F6AF87}"/>
              </a:ext>
            </a:extLst>
          </p:cNvPr>
          <p:cNvSpPr/>
          <p:nvPr/>
        </p:nvSpPr>
        <p:spPr>
          <a:xfrm>
            <a:off x="10809774" y="2277202"/>
            <a:ext cx="397524" cy="55674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4" name="Text 4">
            <a:extLst>
              <a:ext uri="{FF2B5EF4-FFF2-40B4-BE49-F238E27FC236}">
                <a16:creationId xmlns:a16="http://schemas.microsoft.com/office/drawing/2014/main" id="{7A36E747-0366-5D94-A0D6-BD79538E83A7}"/>
              </a:ext>
            </a:extLst>
          </p:cNvPr>
          <p:cNvSpPr txBox="1"/>
          <p:nvPr/>
        </p:nvSpPr>
        <p:spPr>
          <a:xfrm>
            <a:off x="10809774" y="2277202"/>
            <a:ext cx="397524" cy="55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35" name="Text 5">
            <a:extLst>
              <a:ext uri="{FF2B5EF4-FFF2-40B4-BE49-F238E27FC236}">
                <a16:creationId xmlns:a16="http://schemas.microsoft.com/office/drawing/2014/main" id="{B23E5F1B-7BF8-2F7D-B85E-B33AF78738B3}"/>
              </a:ext>
            </a:extLst>
          </p:cNvPr>
          <p:cNvSpPr txBox="1"/>
          <p:nvPr/>
        </p:nvSpPr>
        <p:spPr>
          <a:xfrm>
            <a:off x="11504904" y="2149185"/>
            <a:ext cx="5820896" cy="83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Portal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chemeClr val="accent3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Requests, documents &amp; reports come in</a:t>
            </a:r>
            <a:endParaRPr lang="en-US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36" name="Shape 6">
            <a:extLst>
              <a:ext uri="{FF2B5EF4-FFF2-40B4-BE49-F238E27FC236}">
                <a16:creationId xmlns:a16="http://schemas.microsoft.com/office/drawing/2014/main" id="{BCA423C8-88E1-81B5-089E-5BDE99221531}"/>
              </a:ext>
            </a:extLst>
          </p:cNvPr>
          <p:cNvSpPr/>
          <p:nvPr/>
        </p:nvSpPr>
        <p:spPr>
          <a:xfrm>
            <a:off x="15544754" y="2953857"/>
            <a:ext cx="156170" cy="178954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37" name="Shape 7">
            <a:extLst>
              <a:ext uri="{FF2B5EF4-FFF2-40B4-BE49-F238E27FC236}">
                <a16:creationId xmlns:a16="http://schemas.microsoft.com/office/drawing/2014/main" id="{F5AFBB5B-2DE6-A5F8-FB34-6C38C869314B}"/>
              </a:ext>
            </a:extLst>
          </p:cNvPr>
          <p:cNvSpPr/>
          <p:nvPr/>
        </p:nvSpPr>
        <p:spPr>
          <a:xfrm>
            <a:off x="11150532" y="3155025"/>
            <a:ext cx="6317802" cy="835119"/>
          </a:xfrm>
          <a:prstGeom prst="roundRect">
            <a:avLst>
              <a:gd name="adj" fmla="val 10714"/>
            </a:avLst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38" name="Shape 8">
            <a:extLst>
              <a:ext uri="{FF2B5EF4-FFF2-40B4-BE49-F238E27FC236}">
                <a16:creationId xmlns:a16="http://schemas.microsoft.com/office/drawing/2014/main" id="{E5295904-1E0F-B026-BFF5-015854FE0F8D}"/>
              </a:ext>
            </a:extLst>
          </p:cNvPr>
          <p:cNvSpPr/>
          <p:nvPr/>
        </p:nvSpPr>
        <p:spPr>
          <a:xfrm>
            <a:off x="10809774" y="3283042"/>
            <a:ext cx="397524" cy="55674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9" name="Text 9">
            <a:extLst>
              <a:ext uri="{FF2B5EF4-FFF2-40B4-BE49-F238E27FC236}">
                <a16:creationId xmlns:a16="http://schemas.microsoft.com/office/drawing/2014/main" id="{D9FD184A-2BBC-8CE1-845B-AAAE733DDF40}"/>
              </a:ext>
            </a:extLst>
          </p:cNvPr>
          <p:cNvSpPr txBox="1"/>
          <p:nvPr/>
        </p:nvSpPr>
        <p:spPr>
          <a:xfrm>
            <a:off x="10809774" y="3283042"/>
            <a:ext cx="397524" cy="55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0" name="Text 10">
            <a:extLst>
              <a:ext uri="{FF2B5EF4-FFF2-40B4-BE49-F238E27FC236}">
                <a16:creationId xmlns:a16="http://schemas.microsoft.com/office/drawing/2014/main" id="{C5864025-840F-37A3-C759-91D4B37E5F93}"/>
              </a:ext>
            </a:extLst>
          </p:cNvPr>
          <p:cNvSpPr txBox="1"/>
          <p:nvPr/>
        </p:nvSpPr>
        <p:spPr>
          <a:xfrm>
            <a:off x="11504904" y="3155025"/>
            <a:ext cx="5820896" cy="83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Orchestrator &amp; Agents</a:t>
            </a: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coordinates &amp; executes with human approval</a:t>
            </a:r>
            <a:endParaRPr lang="en-US" sz="20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41" name="Shape 11">
            <a:extLst>
              <a:ext uri="{FF2B5EF4-FFF2-40B4-BE49-F238E27FC236}">
                <a16:creationId xmlns:a16="http://schemas.microsoft.com/office/drawing/2014/main" id="{7D270888-F500-8D97-7A37-FEE113C219D1}"/>
              </a:ext>
            </a:extLst>
          </p:cNvPr>
          <p:cNvSpPr/>
          <p:nvPr/>
        </p:nvSpPr>
        <p:spPr>
          <a:xfrm>
            <a:off x="15544754" y="3959697"/>
            <a:ext cx="156170" cy="178954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42" name="Shape 12">
            <a:extLst>
              <a:ext uri="{FF2B5EF4-FFF2-40B4-BE49-F238E27FC236}">
                <a16:creationId xmlns:a16="http://schemas.microsoft.com/office/drawing/2014/main" id="{B83F0894-B1A0-92D1-C9A0-D6676ADF89F3}"/>
              </a:ext>
            </a:extLst>
          </p:cNvPr>
          <p:cNvSpPr/>
          <p:nvPr/>
        </p:nvSpPr>
        <p:spPr>
          <a:xfrm>
            <a:off x="11150532" y="4160865"/>
            <a:ext cx="6317802" cy="835119"/>
          </a:xfrm>
          <a:prstGeom prst="roundRect">
            <a:avLst>
              <a:gd name="adj" fmla="val 10714"/>
            </a:avLst>
          </a:prstGeom>
          <a:solidFill>
            <a:schemeClr val="accent6">
              <a:lumMod val="60000"/>
              <a:lumOff val="40000"/>
            </a:schemeClr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43" name="Shape 13">
            <a:extLst>
              <a:ext uri="{FF2B5EF4-FFF2-40B4-BE49-F238E27FC236}">
                <a16:creationId xmlns:a16="http://schemas.microsoft.com/office/drawing/2014/main" id="{57FE0052-BC91-89FE-749E-439B57040888}"/>
              </a:ext>
            </a:extLst>
          </p:cNvPr>
          <p:cNvSpPr/>
          <p:nvPr/>
        </p:nvSpPr>
        <p:spPr>
          <a:xfrm>
            <a:off x="10809774" y="4288882"/>
            <a:ext cx="397524" cy="55674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4" name="Text 14">
            <a:extLst>
              <a:ext uri="{FF2B5EF4-FFF2-40B4-BE49-F238E27FC236}">
                <a16:creationId xmlns:a16="http://schemas.microsoft.com/office/drawing/2014/main" id="{B874BB5A-5768-6C7E-DBAA-43FE9085A1A8}"/>
              </a:ext>
            </a:extLst>
          </p:cNvPr>
          <p:cNvSpPr txBox="1"/>
          <p:nvPr/>
        </p:nvSpPr>
        <p:spPr>
          <a:xfrm>
            <a:off x="10809774" y="4288882"/>
            <a:ext cx="397524" cy="55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5" name="Text 15">
            <a:extLst>
              <a:ext uri="{FF2B5EF4-FFF2-40B4-BE49-F238E27FC236}">
                <a16:creationId xmlns:a16="http://schemas.microsoft.com/office/drawing/2014/main" id="{48270C9F-F450-BE6D-90ED-1369696F375E}"/>
              </a:ext>
            </a:extLst>
          </p:cNvPr>
          <p:cNvSpPr txBox="1"/>
          <p:nvPr/>
        </p:nvSpPr>
        <p:spPr>
          <a:xfrm>
            <a:off x="11504904" y="4160865"/>
            <a:ext cx="5820896" cy="83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+ Knowledge Layer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chemeClr val="accent6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models + RAG / Knowledge Graph</a:t>
            </a:r>
            <a:endParaRPr lang="en-US" sz="20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46" name="Shape 16">
            <a:extLst>
              <a:ext uri="{FF2B5EF4-FFF2-40B4-BE49-F238E27FC236}">
                <a16:creationId xmlns:a16="http://schemas.microsoft.com/office/drawing/2014/main" id="{F2AB08D3-B5A4-4FD1-AA94-97296C5A74F4}"/>
              </a:ext>
            </a:extLst>
          </p:cNvPr>
          <p:cNvSpPr/>
          <p:nvPr/>
        </p:nvSpPr>
        <p:spPr>
          <a:xfrm>
            <a:off x="15544754" y="4965537"/>
            <a:ext cx="156170" cy="178954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47" name="Shape 17">
            <a:extLst>
              <a:ext uri="{FF2B5EF4-FFF2-40B4-BE49-F238E27FC236}">
                <a16:creationId xmlns:a16="http://schemas.microsoft.com/office/drawing/2014/main" id="{6CCB4ADD-0F3B-D56A-1B7B-4D8B61008F47}"/>
              </a:ext>
            </a:extLst>
          </p:cNvPr>
          <p:cNvSpPr/>
          <p:nvPr/>
        </p:nvSpPr>
        <p:spPr>
          <a:xfrm>
            <a:off x="11150532" y="5166705"/>
            <a:ext cx="6317802" cy="835119"/>
          </a:xfrm>
          <a:prstGeom prst="roundRect">
            <a:avLst>
              <a:gd name="adj" fmla="val 10714"/>
            </a:avLst>
          </a:prstGeom>
          <a:solidFill>
            <a:schemeClr val="tx2">
              <a:lumMod val="60000"/>
              <a:lumOff val="40000"/>
            </a:schemeClr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48" name="Shape 18">
            <a:extLst>
              <a:ext uri="{FF2B5EF4-FFF2-40B4-BE49-F238E27FC236}">
                <a16:creationId xmlns:a16="http://schemas.microsoft.com/office/drawing/2014/main" id="{CCA36A98-B915-9463-EF58-1A0F23BBFB8B}"/>
              </a:ext>
            </a:extLst>
          </p:cNvPr>
          <p:cNvSpPr/>
          <p:nvPr/>
        </p:nvSpPr>
        <p:spPr>
          <a:xfrm>
            <a:off x="10809774" y="5294722"/>
            <a:ext cx="397524" cy="55674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9" name="Text 19">
            <a:extLst>
              <a:ext uri="{FF2B5EF4-FFF2-40B4-BE49-F238E27FC236}">
                <a16:creationId xmlns:a16="http://schemas.microsoft.com/office/drawing/2014/main" id="{783CD987-D0A0-154B-C39B-8422A41C22BA}"/>
              </a:ext>
            </a:extLst>
          </p:cNvPr>
          <p:cNvSpPr txBox="1"/>
          <p:nvPr/>
        </p:nvSpPr>
        <p:spPr>
          <a:xfrm>
            <a:off x="10809774" y="5294722"/>
            <a:ext cx="397524" cy="55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50" name="Text 20">
            <a:extLst>
              <a:ext uri="{FF2B5EF4-FFF2-40B4-BE49-F238E27FC236}">
                <a16:creationId xmlns:a16="http://schemas.microsoft.com/office/drawing/2014/main" id="{F30E722C-2C5D-4141-61B3-7AACB7C6BF52}"/>
              </a:ext>
            </a:extLst>
          </p:cNvPr>
          <p:cNvSpPr txBox="1"/>
          <p:nvPr/>
        </p:nvSpPr>
        <p:spPr>
          <a:xfrm>
            <a:off x="11504904" y="5166705"/>
            <a:ext cx="5820896" cy="83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Trust Layer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policy checks &amp; evidence verification</a:t>
            </a:r>
            <a:endParaRPr lang="en-US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51" name="Shape 21">
            <a:extLst>
              <a:ext uri="{FF2B5EF4-FFF2-40B4-BE49-F238E27FC236}">
                <a16:creationId xmlns:a16="http://schemas.microsoft.com/office/drawing/2014/main" id="{DC083F8A-1DA0-4F0C-1BB5-ADD3CA0EBEFF}"/>
              </a:ext>
            </a:extLst>
          </p:cNvPr>
          <p:cNvSpPr/>
          <p:nvPr/>
        </p:nvSpPr>
        <p:spPr>
          <a:xfrm>
            <a:off x="15544754" y="5971377"/>
            <a:ext cx="156170" cy="178954"/>
          </a:xfrm>
          <a:prstGeom prst="downArrow">
            <a:avLst/>
          </a:prstGeom>
          <a:solidFill>
            <a:srgbClr val="1E2761"/>
          </a:solidFill>
          <a:ln/>
        </p:spPr>
      </p:sp>
      <p:sp>
        <p:nvSpPr>
          <p:cNvPr id="152" name="Shape 22">
            <a:extLst>
              <a:ext uri="{FF2B5EF4-FFF2-40B4-BE49-F238E27FC236}">
                <a16:creationId xmlns:a16="http://schemas.microsoft.com/office/drawing/2014/main" id="{0F54D086-E470-F33E-C436-8178FFA45E55}"/>
              </a:ext>
            </a:extLst>
          </p:cNvPr>
          <p:cNvSpPr/>
          <p:nvPr/>
        </p:nvSpPr>
        <p:spPr>
          <a:xfrm>
            <a:off x="11150532" y="6172545"/>
            <a:ext cx="6317802" cy="835119"/>
          </a:xfrm>
          <a:prstGeom prst="roundRect">
            <a:avLst>
              <a:gd name="adj" fmla="val 10714"/>
            </a:avLst>
          </a:prstGeom>
          <a:solidFill>
            <a:schemeClr val="bg2">
              <a:lumMod val="90000"/>
            </a:schemeClr>
          </a:solidFill>
          <a:ln/>
          <a:effectLst>
            <a:outerShdw blurRad="635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53" name="Shape 23">
            <a:extLst>
              <a:ext uri="{FF2B5EF4-FFF2-40B4-BE49-F238E27FC236}">
                <a16:creationId xmlns:a16="http://schemas.microsoft.com/office/drawing/2014/main" id="{BA1ECBDE-2163-DE17-F102-9B27DCDF521F}"/>
              </a:ext>
            </a:extLst>
          </p:cNvPr>
          <p:cNvSpPr/>
          <p:nvPr/>
        </p:nvSpPr>
        <p:spPr>
          <a:xfrm>
            <a:off x="10809774" y="6300562"/>
            <a:ext cx="397524" cy="556746"/>
          </a:xfrm>
          <a:prstGeom prst="ellipse">
            <a:avLst/>
          </a:prstGeom>
          <a:solidFill>
            <a:srgbClr val="1E276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4" name="Text 24">
            <a:extLst>
              <a:ext uri="{FF2B5EF4-FFF2-40B4-BE49-F238E27FC236}">
                <a16:creationId xmlns:a16="http://schemas.microsoft.com/office/drawing/2014/main" id="{07A4950B-6567-67AB-A589-2A662A067F83}"/>
              </a:ext>
            </a:extLst>
          </p:cNvPr>
          <p:cNvSpPr txBox="1"/>
          <p:nvPr/>
        </p:nvSpPr>
        <p:spPr>
          <a:xfrm>
            <a:off x="10809774" y="6300562"/>
            <a:ext cx="397524" cy="5567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55" name="Text 25">
            <a:extLst>
              <a:ext uri="{FF2B5EF4-FFF2-40B4-BE49-F238E27FC236}">
                <a16:creationId xmlns:a16="http://schemas.microsoft.com/office/drawing/2014/main" id="{99F14F1B-840B-696B-1D87-F7A18FEB0F55}"/>
              </a:ext>
            </a:extLst>
          </p:cNvPr>
          <p:cNvSpPr txBox="1"/>
          <p:nvPr/>
        </p:nvSpPr>
        <p:spPr>
          <a:xfrm>
            <a:off x="11504904" y="6172545"/>
            <a:ext cx="5820896" cy="8351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Outputs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  <a:p>
            <a:pPr marL="0" indent="0" algn="l">
              <a:lnSpc>
                <a:spcPts val="2200"/>
              </a:lnSpc>
              <a:buNone/>
            </a:pPr>
            <a:r>
              <a:rPr lang="en-US" sz="1450" dirty="0">
                <a:solidFill>
                  <a:schemeClr val="bg2">
                    <a:lumMod val="1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alerts &amp; a full audit trail</a:t>
            </a:r>
            <a:endParaRPr lang="en-US" sz="20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156" name="Shape 26">
            <a:extLst>
              <a:ext uri="{FF2B5EF4-FFF2-40B4-BE49-F238E27FC236}">
                <a16:creationId xmlns:a16="http://schemas.microsoft.com/office/drawing/2014/main" id="{30A7AD47-17B4-F5A6-3130-0D5E54DC6EC3}"/>
              </a:ext>
            </a:extLst>
          </p:cNvPr>
          <p:cNvSpPr/>
          <p:nvPr/>
        </p:nvSpPr>
        <p:spPr>
          <a:xfrm flipV="1">
            <a:off x="10169728" y="3539072"/>
            <a:ext cx="0" cy="3280826"/>
          </a:xfrm>
          <a:prstGeom prst="line">
            <a:avLst/>
          </a:prstGeom>
          <a:noFill/>
          <a:ln w="25400">
            <a:solidFill>
              <a:srgbClr val="3D5A99"/>
            </a:solidFill>
            <a:prstDash val="dash"/>
            <a:tailEnd type="triangle"/>
          </a:ln>
        </p:spPr>
      </p:sp>
      <p:sp>
        <p:nvSpPr>
          <p:cNvPr id="157" name="Shape 27">
            <a:extLst>
              <a:ext uri="{FF2B5EF4-FFF2-40B4-BE49-F238E27FC236}">
                <a16:creationId xmlns:a16="http://schemas.microsoft.com/office/drawing/2014/main" id="{57B45E96-A7C7-26E4-1C38-92B8FA9289DD}"/>
              </a:ext>
            </a:extLst>
          </p:cNvPr>
          <p:cNvSpPr/>
          <p:nvPr/>
        </p:nvSpPr>
        <p:spPr>
          <a:xfrm>
            <a:off x="10133924" y="3539074"/>
            <a:ext cx="518202" cy="0"/>
          </a:xfrm>
          <a:prstGeom prst="line">
            <a:avLst/>
          </a:prstGeom>
          <a:noFill/>
          <a:ln w="25400">
            <a:solidFill>
              <a:srgbClr val="3D5A99"/>
            </a:solidFill>
            <a:prstDash val="solid"/>
          </a:ln>
        </p:spPr>
      </p:sp>
      <p:sp>
        <p:nvSpPr>
          <p:cNvPr id="158" name="Shape 28">
            <a:extLst>
              <a:ext uri="{FF2B5EF4-FFF2-40B4-BE49-F238E27FC236}">
                <a16:creationId xmlns:a16="http://schemas.microsoft.com/office/drawing/2014/main" id="{0C774BF6-E4C0-7F4C-C54C-0310F0430387}"/>
              </a:ext>
            </a:extLst>
          </p:cNvPr>
          <p:cNvSpPr/>
          <p:nvPr/>
        </p:nvSpPr>
        <p:spPr>
          <a:xfrm>
            <a:off x="10133924" y="6556594"/>
            <a:ext cx="518202" cy="0"/>
          </a:xfrm>
          <a:prstGeom prst="line">
            <a:avLst/>
          </a:prstGeom>
          <a:noFill/>
          <a:ln w="25400">
            <a:solidFill>
              <a:srgbClr val="3D5A99"/>
            </a:solidFill>
            <a:prstDash val="solid"/>
          </a:ln>
        </p:spPr>
      </p:sp>
      <p:sp>
        <p:nvSpPr>
          <p:cNvPr id="159" name="Text 29">
            <a:extLst>
              <a:ext uri="{FF2B5EF4-FFF2-40B4-BE49-F238E27FC236}">
                <a16:creationId xmlns:a16="http://schemas.microsoft.com/office/drawing/2014/main" id="{4014FAB0-3CFD-3330-E5C9-BAF368E8A533}"/>
              </a:ext>
            </a:extLst>
          </p:cNvPr>
          <p:cNvSpPr txBox="1"/>
          <p:nvPr/>
        </p:nvSpPr>
        <p:spPr>
          <a:xfrm rot="16200000">
            <a:off x="8279727" y="5065908"/>
            <a:ext cx="3280826" cy="22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FEEDBACK &amp; IMPROVEMENT</a:t>
            </a:r>
            <a:endParaRPr lang="en-US" sz="1100" dirty="0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5882A20D-CC00-0CC8-E326-AFA4404D317B}"/>
              </a:ext>
            </a:extLst>
          </p:cNvPr>
          <p:cNvSpPr/>
          <p:nvPr/>
        </p:nvSpPr>
        <p:spPr>
          <a:xfrm>
            <a:off x="9473560" y="1866900"/>
            <a:ext cx="8420719" cy="55626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6E713764-992C-15AE-450C-4745E653E4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5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098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62000" y="1261872"/>
            <a:ext cx="17041368" cy="8225028"/>
          </a:xfrm>
          <a:prstGeom prst="roundRect">
            <a:avLst>
              <a:gd name="adj" fmla="val 2734"/>
            </a:avLst>
          </a:prstGeom>
          <a:ln w="19050">
            <a:solidFill>
              <a:schemeClr val="tx1"/>
            </a:solidFill>
            <a:prstDash val="dash"/>
          </a:ln>
        </p:spPr>
      </p:sp>
      <p:pic>
        <p:nvPicPr>
          <p:cNvPr id="6" name="Image 0" descr="/home/claude/icons/d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656" y="784583"/>
            <a:ext cx="374419" cy="3744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995522" y="752351"/>
            <a:ext cx="3226105" cy="4467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249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— containerized services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1324540" y="1755648"/>
            <a:ext cx="3503491" cy="2391302"/>
          </a:xfrm>
          <a:prstGeom prst="roundRect">
            <a:avLst>
              <a:gd name="adj" fmla="val 4396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039704" y="1549908"/>
            <a:ext cx="427907" cy="420449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039704" y="1549908"/>
            <a:ext cx="427907" cy="42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dirty="0"/>
          </a:p>
        </p:txBody>
      </p:sp>
      <p:sp>
        <p:nvSpPr>
          <p:cNvPr id="11" name="Text 8"/>
          <p:cNvSpPr txBox="1"/>
          <p:nvPr/>
        </p:nvSpPr>
        <p:spPr>
          <a:xfrm>
            <a:off x="1454822" y="1837944"/>
            <a:ext cx="3236049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490004" y="2194560"/>
            <a:ext cx="1404071" cy="1839463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13" name="Image 1" descr="/home/claude/icons/re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753" y="2386586"/>
            <a:ext cx="505466" cy="50546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29090" y="2932481"/>
            <a:ext cx="1323838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1503469" y="3449204"/>
            <a:ext cx="1358783" cy="407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UI rendering</a:t>
            </a:r>
            <a:endParaRPr lang="en-US" b="1" dirty="0"/>
          </a:p>
        </p:txBody>
      </p:sp>
      <p:sp>
        <p:nvSpPr>
          <p:cNvPr id="16" name="Shape 12"/>
          <p:cNvSpPr/>
          <p:nvPr/>
        </p:nvSpPr>
        <p:spPr>
          <a:xfrm>
            <a:off x="3204504" y="2194560"/>
            <a:ext cx="1404071" cy="1839463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17" name="Image 2" descr="/home/claude/icons/c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2253" y="2386586"/>
            <a:ext cx="505466" cy="50546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243590" y="2932481"/>
            <a:ext cx="1323838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3222300" y="3499230"/>
            <a:ext cx="1323838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UI styling</a:t>
            </a:r>
            <a:endParaRPr lang="en-US" b="1" dirty="0"/>
          </a:p>
        </p:txBody>
      </p:sp>
      <p:sp>
        <p:nvSpPr>
          <p:cNvPr id="20" name="Shape 15"/>
          <p:cNvSpPr/>
          <p:nvPr/>
        </p:nvSpPr>
        <p:spPr>
          <a:xfrm>
            <a:off x="5494204" y="1755648"/>
            <a:ext cx="3503491" cy="2391302"/>
          </a:xfrm>
          <a:prstGeom prst="roundRect">
            <a:avLst>
              <a:gd name="adj" fmla="val 4396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209368" y="1549908"/>
            <a:ext cx="427907" cy="420449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5209368" y="1549908"/>
            <a:ext cx="427907" cy="42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dirty="0"/>
          </a:p>
        </p:txBody>
      </p:sp>
      <p:sp>
        <p:nvSpPr>
          <p:cNvPr id="23" name="Text 18"/>
          <p:cNvSpPr txBox="1"/>
          <p:nvPr/>
        </p:nvSpPr>
        <p:spPr>
          <a:xfrm>
            <a:off x="5624486" y="1837944"/>
            <a:ext cx="3236049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50" dirty="0"/>
          </a:p>
        </p:txBody>
      </p:sp>
      <p:sp>
        <p:nvSpPr>
          <p:cNvPr id="24" name="Shape 19"/>
          <p:cNvSpPr/>
          <p:nvPr/>
        </p:nvSpPr>
        <p:spPr>
          <a:xfrm>
            <a:off x="5567744" y="2194560"/>
            <a:ext cx="1029652" cy="1839463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25" name="Image 3" descr="/home/claude/icons/nodej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758" y="2386584"/>
            <a:ext cx="370675" cy="37067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606828" y="2794224"/>
            <a:ext cx="949419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5606827" y="3435283"/>
            <a:ext cx="949419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600" b="1" dirty="0"/>
          </a:p>
        </p:txBody>
      </p:sp>
      <p:sp>
        <p:nvSpPr>
          <p:cNvPr id="28" name="Shape 22"/>
          <p:cNvSpPr/>
          <p:nvPr/>
        </p:nvSpPr>
        <p:spPr>
          <a:xfrm>
            <a:off x="6706172" y="2194560"/>
            <a:ext cx="1029652" cy="1839463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29" name="Image 4" descr="/home/claude/icons/jw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7186" y="2386584"/>
            <a:ext cx="370675" cy="37067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745256" y="2794224"/>
            <a:ext cx="949419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6728643" y="3364825"/>
            <a:ext cx="949419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Auth tokens</a:t>
            </a:r>
            <a:endParaRPr lang="en-US" sz="1600" b="1" dirty="0"/>
          </a:p>
        </p:txBody>
      </p:sp>
      <p:sp>
        <p:nvSpPr>
          <p:cNvPr id="32" name="Shape 25"/>
          <p:cNvSpPr/>
          <p:nvPr/>
        </p:nvSpPr>
        <p:spPr>
          <a:xfrm>
            <a:off x="7844600" y="2194560"/>
            <a:ext cx="1029652" cy="1839463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33" name="Image 5" descr="/home/claude/icons/bcryp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5614" y="2386584"/>
            <a:ext cx="370675" cy="370675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883684" y="2794224"/>
            <a:ext cx="949419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7869525" y="3376454"/>
            <a:ext cx="949419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Pwd hashing</a:t>
            </a:r>
            <a:endParaRPr lang="en-US" sz="1600" b="1" dirty="0"/>
          </a:p>
        </p:txBody>
      </p:sp>
      <p:sp>
        <p:nvSpPr>
          <p:cNvPr id="36" name="Shape 28"/>
          <p:cNvSpPr/>
          <p:nvPr/>
        </p:nvSpPr>
        <p:spPr>
          <a:xfrm>
            <a:off x="9663868" y="1755648"/>
            <a:ext cx="3503491" cy="2391302"/>
          </a:xfrm>
          <a:prstGeom prst="roundRect">
            <a:avLst>
              <a:gd name="adj" fmla="val 4396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9379032" y="1549908"/>
            <a:ext cx="427907" cy="420449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9379032" y="1549908"/>
            <a:ext cx="427907" cy="42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dirty="0"/>
          </a:p>
        </p:txBody>
      </p:sp>
      <p:sp>
        <p:nvSpPr>
          <p:cNvPr id="39" name="Text 31"/>
          <p:cNvSpPr txBox="1"/>
          <p:nvPr/>
        </p:nvSpPr>
        <p:spPr>
          <a:xfrm>
            <a:off x="9794150" y="1837944"/>
            <a:ext cx="3236049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Orchestration</a:t>
            </a:r>
            <a:endParaRPr lang="en-US" sz="1650" dirty="0"/>
          </a:p>
        </p:txBody>
      </p:sp>
      <p:sp>
        <p:nvSpPr>
          <p:cNvPr id="40" name="Shape 32"/>
          <p:cNvSpPr/>
          <p:nvPr/>
        </p:nvSpPr>
        <p:spPr>
          <a:xfrm>
            <a:off x="9829332" y="2194560"/>
            <a:ext cx="1404071" cy="1839463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41" name="Image 6" descr="/home/claude/icons/pyth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67081" y="2386586"/>
            <a:ext cx="505466" cy="505466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9868418" y="2932481"/>
            <a:ext cx="1323838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43" name="Text 34"/>
          <p:cNvSpPr txBox="1"/>
          <p:nvPr/>
        </p:nvSpPr>
        <p:spPr>
          <a:xfrm>
            <a:off x="9842704" y="3484935"/>
            <a:ext cx="1323838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Core logic</a:t>
            </a:r>
            <a:endParaRPr lang="en-US" sz="1600" b="1" dirty="0"/>
          </a:p>
        </p:txBody>
      </p:sp>
      <p:sp>
        <p:nvSpPr>
          <p:cNvPr id="44" name="Shape 35"/>
          <p:cNvSpPr/>
          <p:nvPr/>
        </p:nvSpPr>
        <p:spPr>
          <a:xfrm>
            <a:off x="11543832" y="2194560"/>
            <a:ext cx="1404071" cy="1839463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45" name="Image 7" descr="/home/claude/icons/fasta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981581" y="2386586"/>
            <a:ext cx="505466" cy="505466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11582918" y="2932481"/>
            <a:ext cx="1323838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11582918" y="3502705"/>
            <a:ext cx="1323838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600" b="1" dirty="0"/>
          </a:p>
        </p:txBody>
      </p:sp>
      <p:sp>
        <p:nvSpPr>
          <p:cNvPr id="48" name="Shape 38"/>
          <p:cNvSpPr/>
          <p:nvPr/>
        </p:nvSpPr>
        <p:spPr>
          <a:xfrm>
            <a:off x="13833532" y="1755648"/>
            <a:ext cx="3503491" cy="2391302"/>
          </a:xfrm>
          <a:prstGeom prst="roundRect">
            <a:avLst>
              <a:gd name="adj" fmla="val 4396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49" name="Shape 39"/>
          <p:cNvSpPr/>
          <p:nvPr/>
        </p:nvSpPr>
        <p:spPr>
          <a:xfrm>
            <a:off x="13548696" y="1549908"/>
            <a:ext cx="427907" cy="420449"/>
          </a:xfrm>
          <a:prstGeom prst="ellipse">
            <a:avLst/>
          </a:prstGeom>
          <a:solidFill>
            <a:srgbClr val="0F6E5C"/>
          </a:solidFill>
          <a:ln/>
        </p:spPr>
      </p:sp>
      <p:sp>
        <p:nvSpPr>
          <p:cNvPr id="50" name="Text 40"/>
          <p:cNvSpPr txBox="1"/>
          <p:nvPr/>
        </p:nvSpPr>
        <p:spPr>
          <a:xfrm>
            <a:off x="13548696" y="1549908"/>
            <a:ext cx="427907" cy="420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dirty="0"/>
          </a:p>
        </p:txBody>
      </p:sp>
      <p:sp>
        <p:nvSpPr>
          <p:cNvPr id="51" name="Text 41"/>
          <p:cNvSpPr txBox="1"/>
          <p:nvPr/>
        </p:nvSpPr>
        <p:spPr>
          <a:xfrm>
            <a:off x="13963814" y="1837944"/>
            <a:ext cx="3236049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Workflow</a:t>
            </a:r>
            <a:endParaRPr lang="en-US" sz="1650" dirty="0"/>
          </a:p>
        </p:txBody>
      </p:sp>
      <p:sp>
        <p:nvSpPr>
          <p:cNvPr id="52" name="Shape 42"/>
          <p:cNvSpPr/>
          <p:nvPr/>
        </p:nvSpPr>
        <p:spPr>
          <a:xfrm>
            <a:off x="14823676" y="2194560"/>
            <a:ext cx="1470931" cy="1839463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53" name="Image 8" descr="/home/claude/icons/langgrap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086368" y="2103374"/>
            <a:ext cx="872130" cy="87213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14823676" y="2811555"/>
            <a:ext cx="1390699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600" dirty="0"/>
          </a:p>
        </p:txBody>
      </p:sp>
      <p:sp>
        <p:nvSpPr>
          <p:cNvPr id="55" name="Text 44"/>
          <p:cNvSpPr txBox="1"/>
          <p:nvPr/>
        </p:nvSpPr>
        <p:spPr>
          <a:xfrm>
            <a:off x="14862760" y="3204057"/>
            <a:ext cx="1351615" cy="566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/>
              <a:t>Create agent workflow</a:t>
            </a:r>
          </a:p>
        </p:txBody>
      </p:sp>
      <p:sp>
        <p:nvSpPr>
          <p:cNvPr id="59" name="Shape 48"/>
          <p:cNvSpPr/>
          <p:nvPr/>
        </p:nvSpPr>
        <p:spPr>
          <a:xfrm>
            <a:off x="6093502" y="4553712"/>
            <a:ext cx="2273258" cy="1947672"/>
          </a:xfrm>
          <a:prstGeom prst="roundRect">
            <a:avLst>
              <a:gd name="adj" fmla="val 8889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60" name="Text 49"/>
          <p:cNvSpPr txBox="1"/>
          <p:nvPr/>
        </p:nvSpPr>
        <p:spPr>
          <a:xfrm>
            <a:off x="6223784" y="4636008"/>
            <a:ext cx="2005816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50" dirty="0"/>
          </a:p>
        </p:txBody>
      </p:sp>
      <p:sp>
        <p:nvSpPr>
          <p:cNvPr id="61" name="Shape 50"/>
          <p:cNvSpPr/>
          <p:nvPr/>
        </p:nvSpPr>
        <p:spPr>
          <a:xfrm>
            <a:off x="6627658" y="4882896"/>
            <a:ext cx="1176745" cy="14798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62" name="Image 9" descr="/home/claude/icons/mongo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28928" y="4973422"/>
            <a:ext cx="353024" cy="353024"/>
          </a:xfrm>
          <a:prstGeom prst="rect">
            <a:avLst/>
          </a:prstGeom>
        </p:spPr>
      </p:pic>
      <p:sp>
        <p:nvSpPr>
          <p:cNvPr id="63" name="Text 51"/>
          <p:cNvSpPr txBox="1"/>
          <p:nvPr/>
        </p:nvSpPr>
        <p:spPr>
          <a:xfrm>
            <a:off x="6666742" y="5362956"/>
            <a:ext cx="1096513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64" name="Text 52"/>
          <p:cNvSpPr txBox="1"/>
          <p:nvPr/>
        </p:nvSpPr>
        <p:spPr>
          <a:xfrm>
            <a:off x="6694253" y="5796793"/>
            <a:ext cx="1096513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app data</a:t>
            </a:r>
            <a:endParaRPr lang="en-US" sz="1600" b="1" dirty="0"/>
          </a:p>
        </p:txBody>
      </p:sp>
      <p:sp>
        <p:nvSpPr>
          <p:cNvPr id="66" name="Shape 54"/>
          <p:cNvSpPr/>
          <p:nvPr/>
        </p:nvSpPr>
        <p:spPr>
          <a:xfrm>
            <a:off x="9663868" y="5169481"/>
            <a:ext cx="3503491" cy="3548227"/>
          </a:xfrm>
          <a:prstGeom prst="roundRect">
            <a:avLst>
              <a:gd name="adj" fmla="val 4000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9794149" y="5218427"/>
            <a:ext cx="3236049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Layer</a:t>
            </a:r>
            <a:endParaRPr lang="en-US" sz="1650" dirty="0"/>
          </a:p>
        </p:txBody>
      </p:sp>
      <p:sp>
        <p:nvSpPr>
          <p:cNvPr id="68" name="Shape 56"/>
          <p:cNvSpPr/>
          <p:nvPr/>
        </p:nvSpPr>
        <p:spPr>
          <a:xfrm>
            <a:off x="10814136" y="5666775"/>
            <a:ext cx="1123257" cy="1479797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69" name="Image 10" descr="/home/claude/icons/mem0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39114" y="5724212"/>
            <a:ext cx="404374" cy="404374"/>
          </a:xfrm>
          <a:prstGeom prst="rect">
            <a:avLst/>
          </a:prstGeom>
        </p:spPr>
      </p:pic>
      <p:sp>
        <p:nvSpPr>
          <p:cNvPr id="70" name="Text 57"/>
          <p:cNvSpPr txBox="1"/>
          <p:nvPr/>
        </p:nvSpPr>
        <p:spPr>
          <a:xfrm>
            <a:off x="10829391" y="6258639"/>
            <a:ext cx="1043024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mem0</a:t>
            </a:r>
            <a:endParaRPr lang="en-US" dirty="0"/>
          </a:p>
        </p:txBody>
      </p:sp>
      <p:sp>
        <p:nvSpPr>
          <p:cNvPr id="71" name="Text 58"/>
          <p:cNvSpPr txBox="1"/>
          <p:nvPr/>
        </p:nvSpPr>
        <p:spPr>
          <a:xfrm>
            <a:off x="10890662" y="6625656"/>
            <a:ext cx="1043024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manager</a:t>
            </a:r>
            <a:endParaRPr lang="en-US" sz="1600" b="1" dirty="0"/>
          </a:p>
        </p:txBody>
      </p:sp>
      <p:sp>
        <p:nvSpPr>
          <p:cNvPr id="72" name="Shape 59"/>
          <p:cNvSpPr/>
          <p:nvPr/>
        </p:nvSpPr>
        <p:spPr>
          <a:xfrm>
            <a:off x="9803620" y="7626096"/>
            <a:ext cx="1470931" cy="105112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73" name="Image 11" descr="/home/claude/icons/qdran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11720" y="7735824"/>
            <a:ext cx="427907" cy="427907"/>
          </a:xfrm>
          <a:prstGeom prst="rect">
            <a:avLst/>
          </a:prstGeom>
        </p:spPr>
      </p:pic>
      <p:sp>
        <p:nvSpPr>
          <p:cNvPr id="74" name="Text 60"/>
          <p:cNvSpPr txBox="1"/>
          <p:nvPr/>
        </p:nvSpPr>
        <p:spPr>
          <a:xfrm>
            <a:off x="9842704" y="8202168"/>
            <a:ext cx="1390699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</a:t>
            </a:r>
            <a:endParaRPr lang="en-US" sz="1350" dirty="0"/>
          </a:p>
        </p:txBody>
      </p:sp>
      <p:sp>
        <p:nvSpPr>
          <p:cNvPr id="75" name="Text 61"/>
          <p:cNvSpPr txBox="1"/>
          <p:nvPr/>
        </p:nvSpPr>
        <p:spPr>
          <a:xfrm>
            <a:off x="9842704" y="8449056"/>
            <a:ext cx="1390699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600" b="1" dirty="0"/>
          </a:p>
        </p:txBody>
      </p:sp>
      <p:sp>
        <p:nvSpPr>
          <p:cNvPr id="76" name="Shape 62"/>
          <p:cNvSpPr/>
          <p:nvPr/>
        </p:nvSpPr>
        <p:spPr>
          <a:xfrm>
            <a:off x="11504404" y="7626096"/>
            <a:ext cx="1470931" cy="1051122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77" name="Image 12" descr="/home/claude/icons/neo4j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012504" y="7735824"/>
            <a:ext cx="427907" cy="427907"/>
          </a:xfrm>
          <a:prstGeom prst="rect">
            <a:avLst/>
          </a:prstGeom>
        </p:spPr>
      </p:pic>
      <p:sp>
        <p:nvSpPr>
          <p:cNvPr id="78" name="Text 63"/>
          <p:cNvSpPr txBox="1"/>
          <p:nvPr/>
        </p:nvSpPr>
        <p:spPr>
          <a:xfrm>
            <a:off x="11543488" y="8202168"/>
            <a:ext cx="1390699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1350" dirty="0"/>
          </a:p>
        </p:txBody>
      </p:sp>
      <p:sp>
        <p:nvSpPr>
          <p:cNvPr id="79" name="Text 64"/>
          <p:cNvSpPr txBox="1"/>
          <p:nvPr/>
        </p:nvSpPr>
        <p:spPr>
          <a:xfrm>
            <a:off x="11543488" y="8449056"/>
            <a:ext cx="1390699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Graph relations</a:t>
            </a:r>
            <a:endParaRPr lang="en-US" sz="1600" b="1" dirty="0"/>
          </a:p>
        </p:txBody>
      </p:sp>
      <p:sp>
        <p:nvSpPr>
          <p:cNvPr id="80" name="Shape 65"/>
          <p:cNvSpPr/>
          <p:nvPr/>
        </p:nvSpPr>
        <p:spPr>
          <a:xfrm>
            <a:off x="13833532" y="6089904"/>
            <a:ext cx="3503491" cy="2627804"/>
          </a:xfrm>
          <a:prstGeom prst="roundRect">
            <a:avLst>
              <a:gd name="adj" fmla="val 4000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81" name="Text 66"/>
          <p:cNvSpPr txBox="1"/>
          <p:nvPr/>
        </p:nvSpPr>
        <p:spPr>
          <a:xfrm>
            <a:off x="13963814" y="6172200"/>
            <a:ext cx="3236049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Local Models</a:t>
            </a:r>
            <a:endParaRPr lang="en-US" sz="1650" dirty="0"/>
          </a:p>
        </p:txBody>
      </p:sp>
      <p:sp>
        <p:nvSpPr>
          <p:cNvPr id="82" name="Shape 67"/>
          <p:cNvSpPr/>
          <p:nvPr/>
        </p:nvSpPr>
        <p:spPr>
          <a:xfrm>
            <a:off x="14758534" y="6638544"/>
            <a:ext cx="1604653" cy="20365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83" name="Image 13" descr="/home/claude/icons/ollama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58820" y="6851143"/>
            <a:ext cx="577676" cy="577676"/>
          </a:xfrm>
          <a:prstGeom prst="rect">
            <a:avLst/>
          </a:prstGeom>
        </p:spPr>
      </p:pic>
      <p:sp>
        <p:nvSpPr>
          <p:cNvPr id="84" name="Text 68"/>
          <p:cNvSpPr txBox="1"/>
          <p:nvPr/>
        </p:nvSpPr>
        <p:spPr>
          <a:xfrm>
            <a:off x="14797620" y="7471106"/>
            <a:ext cx="1524420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600" dirty="0"/>
          </a:p>
        </p:txBody>
      </p:sp>
      <p:sp>
        <p:nvSpPr>
          <p:cNvPr id="85" name="Text 69"/>
          <p:cNvSpPr txBox="1"/>
          <p:nvPr/>
        </p:nvSpPr>
        <p:spPr>
          <a:xfrm>
            <a:off x="14797620" y="8012484"/>
            <a:ext cx="1524420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LLM inference</a:t>
            </a:r>
            <a:endParaRPr lang="en-US" sz="1600" b="1" dirty="0"/>
          </a:p>
        </p:txBody>
      </p:sp>
      <p:sp>
        <p:nvSpPr>
          <p:cNvPr id="86" name="Shape 70"/>
          <p:cNvSpPr/>
          <p:nvPr/>
        </p:nvSpPr>
        <p:spPr>
          <a:xfrm>
            <a:off x="1292902" y="5288667"/>
            <a:ext cx="2273258" cy="1983749"/>
          </a:xfrm>
          <a:prstGeom prst="roundRect">
            <a:avLst>
              <a:gd name="adj" fmla="val 8889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87" name="Text 71"/>
          <p:cNvSpPr txBox="1"/>
          <p:nvPr/>
        </p:nvSpPr>
        <p:spPr>
          <a:xfrm>
            <a:off x="1512434" y="5481207"/>
            <a:ext cx="2005816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1650" dirty="0"/>
          </a:p>
        </p:txBody>
      </p:sp>
      <p:sp>
        <p:nvSpPr>
          <p:cNvPr id="88" name="Shape 72"/>
          <p:cNvSpPr/>
          <p:nvPr/>
        </p:nvSpPr>
        <p:spPr>
          <a:xfrm>
            <a:off x="1786287" y="5827046"/>
            <a:ext cx="1418217" cy="8671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89" name="Image 14" descr="/home/claude/icons/redis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84440" y="5925547"/>
            <a:ext cx="353024" cy="353024"/>
          </a:xfrm>
          <a:prstGeom prst="rect">
            <a:avLst/>
          </a:prstGeom>
        </p:spPr>
      </p:pic>
      <p:sp>
        <p:nvSpPr>
          <p:cNvPr id="90" name="Text 73"/>
          <p:cNvSpPr txBox="1"/>
          <p:nvPr/>
        </p:nvSpPr>
        <p:spPr>
          <a:xfrm>
            <a:off x="1884962" y="6343007"/>
            <a:ext cx="1096513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/ Valkey</a:t>
            </a:r>
            <a:endParaRPr lang="en-US" sz="1400" dirty="0"/>
          </a:p>
        </p:txBody>
      </p:sp>
      <p:sp>
        <p:nvSpPr>
          <p:cNvPr id="91" name="Text 74"/>
          <p:cNvSpPr txBox="1"/>
          <p:nvPr/>
        </p:nvSpPr>
        <p:spPr>
          <a:xfrm>
            <a:off x="1828938" y="6853487"/>
            <a:ext cx="1096513" cy="394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Fast caching</a:t>
            </a:r>
            <a:endParaRPr lang="en-US" sz="1600" b="1" dirty="0"/>
          </a:p>
        </p:txBody>
      </p:sp>
      <p:sp>
        <p:nvSpPr>
          <p:cNvPr id="92" name="Shape 75"/>
          <p:cNvSpPr/>
          <p:nvPr/>
        </p:nvSpPr>
        <p:spPr>
          <a:xfrm>
            <a:off x="4794687" y="7050573"/>
            <a:ext cx="2273258" cy="1742851"/>
          </a:xfrm>
          <a:prstGeom prst="roundRect">
            <a:avLst>
              <a:gd name="adj" fmla="val 8889"/>
            </a:avLst>
          </a:prstGeom>
          <a:solidFill>
            <a:srgbClr val="F3F6F7"/>
          </a:solidFill>
          <a:ln w="12700">
            <a:solidFill>
              <a:srgbClr val="C7D1D4"/>
            </a:solidFill>
            <a:prstDash val="solid"/>
          </a:ln>
        </p:spPr>
      </p:sp>
      <p:sp>
        <p:nvSpPr>
          <p:cNvPr id="93" name="Text 76"/>
          <p:cNvSpPr txBox="1"/>
          <p:nvPr/>
        </p:nvSpPr>
        <p:spPr>
          <a:xfrm>
            <a:off x="5494204" y="8388160"/>
            <a:ext cx="2005816" cy="289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5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650" dirty="0"/>
          </a:p>
        </p:txBody>
      </p:sp>
      <p:sp>
        <p:nvSpPr>
          <p:cNvPr id="94" name="Shape 77"/>
          <p:cNvSpPr/>
          <p:nvPr/>
        </p:nvSpPr>
        <p:spPr>
          <a:xfrm>
            <a:off x="5306156" y="7334993"/>
            <a:ext cx="1176745" cy="867175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3E5"/>
            </a:solidFill>
            <a:prstDash val="solid"/>
          </a:ln>
          <a:effectLst>
            <a:outerShdw blurRad="38100" dist="12700" dir="5400000" algn="bl" rotWithShape="0">
              <a:srgbClr val="8C9AA0">
                <a:alpha val="22000"/>
              </a:srgbClr>
            </a:outerShdw>
          </a:effectLst>
        </p:spPr>
      </p:sp>
      <p:pic>
        <p:nvPicPr>
          <p:cNvPr id="95" name="Image 15" descr="/home/claude/icons/sandbox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28512" y="7403806"/>
            <a:ext cx="353024" cy="353024"/>
          </a:xfrm>
          <a:prstGeom prst="rect">
            <a:avLst/>
          </a:prstGeom>
        </p:spPr>
      </p:pic>
      <p:sp>
        <p:nvSpPr>
          <p:cNvPr id="96" name="Text 78"/>
          <p:cNvSpPr txBox="1"/>
          <p:nvPr/>
        </p:nvSpPr>
        <p:spPr>
          <a:xfrm>
            <a:off x="5340501" y="7878334"/>
            <a:ext cx="1096513" cy="236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C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600" dirty="0"/>
          </a:p>
        </p:txBody>
      </p:sp>
      <p:sp>
        <p:nvSpPr>
          <p:cNvPr id="97" name="Text 79"/>
          <p:cNvSpPr txBox="1"/>
          <p:nvPr/>
        </p:nvSpPr>
        <p:spPr>
          <a:xfrm>
            <a:off x="2433219" y="8063973"/>
            <a:ext cx="1338362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Safe code execution</a:t>
            </a:r>
            <a:endParaRPr lang="en-US" sz="1400" b="1" dirty="0"/>
          </a:p>
        </p:txBody>
      </p:sp>
      <p:sp>
        <p:nvSpPr>
          <p:cNvPr id="105" name="Shape 87"/>
          <p:cNvSpPr/>
          <p:nvPr/>
        </p:nvSpPr>
        <p:spPr>
          <a:xfrm>
            <a:off x="15540228" y="8833104"/>
            <a:ext cx="0" cy="118251"/>
          </a:xfrm>
          <a:prstGeom prst="line">
            <a:avLst/>
          </a:prstGeom>
          <a:noFill/>
          <a:ln w="19050">
            <a:solidFill>
              <a:srgbClr val="94A3A8"/>
            </a:solidFill>
            <a:prstDash val="solid"/>
            <a:headEnd type="triangle"/>
            <a:tailEnd type="none"/>
          </a:ln>
        </p:spPr>
      </p:sp>
      <p:sp>
        <p:nvSpPr>
          <p:cNvPr id="106" name="Text 88"/>
          <p:cNvSpPr txBox="1"/>
          <p:nvPr/>
        </p:nvSpPr>
        <p:spPr>
          <a:xfrm>
            <a:off x="1172502" y="9578217"/>
            <a:ext cx="16220363" cy="5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5000"/>
              </a:lnSpc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Flow:  ① Frontend → ② Backend + MongoDB → ③ Model Orchestration (pulls context from Memory Layer) → Memory Layer ↔ Ollama models → ④ Output Evaluation re-checks via Ollama → result returns to Backend → Frontend. Sandbox runs agent tool-calls via Redis/Valkey and feeds results back to Ollama</a:t>
            </a: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114" name="Text 2">
            <a:extLst>
              <a:ext uri="{FF2B5EF4-FFF2-40B4-BE49-F238E27FC236}">
                <a16:creationId xmlns:a16="http://schemas.microsoft.com/office/drawing/2014/main" id="{4CAE5CAA-761A-3FAC-0082-8203659D642D}"/>
              </a:ext>
            </a:extLst>
          </p:cNvPr>
          <p:cNvSpPr/>
          <p:nvPr/>
        </p:nvSpPr>
        <p:spPr>
          <a:xfrm>
            <a:off x="4264614" y="193658"/>
            <a:ext cx="10188540" cy="75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900" b="1" dirty="0">
                <a:solidFill>
                  <a:schemeClr val="tx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TECHNICAL APPROACH</a:t>
            </a:r>
            <a:endParaRPr lang="en-US" sz="39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93C63441-3220-842A-08E9-317116822075}"/>
              </a:ext>
            </a:extLst>
          </p:cNvPr>
          <p:cNvSpPr/>
          <p:nvPr/>
        </p:nvSpPr>
        <p:spPr>
          <a:xfrm>
            <a:off x="594854" y="1386950"/>
            <a:ext cx="6715919" cy="491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850" dirty="0"/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18945D62-3800-85F1-6AD5-4EAB41BB6FC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227561" y="155530"/>
            <a:ext cx="3026341" cy="887424"/>
          </a:xfrm>
          <a:prstGeom prst="rect">
            <a:avLst/>
          </a:prstGeom>
        </p:spPr>
      </p:pic>
      <p:cxnSp>
        <p:nvCxnSpPr>
          <p:cNvPr id="122" name="Connector: Elbow 121">
            <a:extLst>
              <a:ext uri="{FF2B5EF4-FFF2-40B4-BE49-F238E27FC236}">
                <a16:creationId xmlns:a16="http://schemas.microsoft.com/office/drawing/2014/main" id="{E552D026-A5D5-C30C-B248-76F5FBF63914}"/>
              </a:ext>
            </a:extLst>
          </p:cNvPr>
          <p:cNvCxnSpPr>
            <a:cxnSpLocks/>
            <a:stCxn id="68" idx="1"/>
            <a:endCxn id="72" idx="0"/>
          </p:cNvCxnSpPr>
          <p:nvPr/>
        </p:nvCxnSpPr>
        <p:spPr>
          <a:xfrm rot="10800000" flipV="1">
            <a:off x="10539086" y="6406674"/>
            <a:ext cx="275050" cy="121942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3AD1C28E-633F-888B-5C6B-F7C74842BA9C}"/>
              </a:ext>
            </a:extLst>
          </p:cNvPr>
          <p:cNvCxnSpPr>
            <a:cxnSpLocks/>
            <a:stCxn id="68" idx="3"/>
            <a:endCxn id="76" idx="0"/>
          </p:cNvCxnSpPr>
          <p:nvPr/>
        </p:nvCxnSpPr>
        <p:spPr>
          <a:xfrm>
            <a:off x="11937393" y="6406674"/>
            <a:ext cx="302477" cy="121942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006767F9-7CDB-82A8-0CB3-B872B5E7EE64}"/>
              </a:ext>
            </a:extLst>
          </p:cNvPr>
          <p:cNvCxnSpPr>
            <a:stCxn id="8" idx="3"/>
            <a:endCxn id="20" idx="1"/>
          </p:cNvCxnSpPr>
          <p:nvPr/>
        </p:nvCxnSpPr>
        <p:spPr>
          <a:xfrm>
            <a:off x="4828031" y="2951299"/>
            <a:ext cx="6661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4" name="Straight Arrow Connector 133">
            <a:extLst>
              <a:ext uri="{FF2B5EF4-FFF2-40B4-BE49-F238E27FC236}">
                <a16:creationId xmlns:a16="http://schemas.microsoft.com/office/drawing/2014/main" id="{A33A27B0-719E-11E4-63DF-1F77E2B7FDE8}"/>
              </a:ext>
            </a:extLst>
          </p:cNvPr>
          <p:cNvCxnSpPr>
            <a:stCxn id="20" idx="3"/>
            <a:endCxn id="36" idx="1"/>
          </p:cNvCxnSpPr>
          <p:nvPr/>
        </p:nvCxnSpPr>
        <p:spPr>
          <a:xfrm>
            <a:off x="8997695" y="2951299"/>
            <a:ext cx="6661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D8229F05-C838-1056-40AB-38E1B991CC14}"/>
              </a:ext>
            </a:extLst>
          </p:cNvPr>
          <p:cNvCxnSpPr>
            <a:stCxn id="36" idx="3"/>
            <a:endCxn id="48" idx="1"/>
          </p:cNvCxnSpPr>
          <p:nvPr/>
        </p:nvCxnSpPr>
        <p:spPr>
          <a:xfrm>
            <a:off x="13167359" y="2951299"/>
            <a:ext cx="6661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89445D25-4C0B-ABCB-1E60-9D98FE1E0EBA}"/>
              </a:ext>
            </a:extLst>
          </p:cNvPr>
          <p:cNvCxnSpPr>
            <a:stCxn id="48" idx="2"/>
            <a:endCxn id="80" idx="0"/>
          </p:cNvCxnSpPr>
          <p:nvPr/>
        </p:nvCxnSpPr>
        <p:spPr>
          <a:xfrm>
            <a:off x="15585278" y="4146950"/>
            <a:ext cx="0" cy="194295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0" name="Straight Arrow Connector 139">
            <a:extLst>
              <a:ext uri="{FF2B5EF4-FFF2-40B4-BE49-F238E27FC236}">
                <a16:creationId xmlns:a16="http://schemas.microsoft.com/office/drawing/2014/main" id="{193766CE-AE8A-D590-F268-32673A08BAE3}"/>
              </a:ext>
            </a:extLst>
          </p:cNvPr>
          <p:cNvCxnSpPr>
            <a:cxnSpLocks/>
            <a:stCxn id="36" idx="2"/>
          </p:cNvCxnSpPr>
          <p:nvPr/>
        </p:nvCxnSpPr>
        <p:spPr>
          <a:xfrm>
            <a:off x="11415614" y="4146950"/>
            <a:ext cx="0" cy="9965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719BAD66-DD40-B3F6-A3D1-D9BE3B775B6B}"/>
              </a:ext>
            </a:extLst>
          </p:cNvPr>
          <p:cNvCxnSpPr>
            <a:stCxn id="20" idx="2"/>
            <a:endCxn id="59" idx="0"/>
          </p:cNvCxnSpPr>
          <p:nvPr/>
        </p:nvCxnSpPr>
        <p:spPr>
          <a:xfrm flipH="1">
            <a:off x="7230131" y="4146950"/>
            <a:ext cx="15819" cy="4067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DFF3F3AD-BB83-918E-0FF3-417637C3F796}"/>
              </a:ext>
            </a:extLst>
          </p:cNvPr>
          <p:cNvCxnSpPr>
            <a:cxnSpLocks/>
          </p:cNvCxnSpPr>
          <p:nvPr/>
        </p:nvCxnSpPr>
        <p:spPr>
          <a:xfrm>
            <a:off x="3538867" y="6053761"/>
            <a:ext cx="6097708" cy="796975"/>
          </a:xfrm>
          <a:prstGeom prst="bentConnector3">
            <a:avLst>
              <a:gd name="adj1" fmla="val 36548"/>
            </a:avLst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7" name="Connector: Elbow 146">
            <a:extLst>
              <a:ext uri="{FF2B5EF4-FFF2-40B4-BE49-F238E27FC236}">
                <a16:creationId xmlns:a16="http://schemas.microsoft.com/office/drawing/2014/main" id="{904D3358-5C6C-4F24-1C59-0D3710F8AC6C}"/>
              </a:ext>
            </a:extLst>
          </p:cNvPr>
          <p:cNvCxnSpPr>
            <a:stCxn id="91" idx="2"/>
            <a:endCxn id="92" idx="1"/>
          </p:cNvCxnSpPr>
          <p:nvPr/>
        </p:nvCxnSpPr>
        <p:spPr>
          <a:xfrm rot="16200000" flipH="1">
            <a:off x="3248771" y="6376082"/>
            <a:ext cx="674341" cy="2417492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FF36D43-2CF3-AC6F-F818-76E6B265BD0D}"/>
              </a:ext>
            </a:extLst>
          </p:cNvPr>
          <p:cNvCxnSpPr>
            <a:cxnSpLocks/>
            <a:endCxn id="80" idx="1"/>
          </p:cNvCxnSpPr>
          <p:nvPr/>
        </p:nvCxnSpPr>
        <p:spPr>
          <a:xfrm>
            <a:off x="13167359" y="7403806"/>
            <a:ext cx="66617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41D21A90-B40D-2238-BE03-F7FFC8577FAD}"/>
              </a:ext>
            </a:extLst>
          </p:cNvPr>
          <p:cNvCxnSpPr>
            <a:stCxn id="92" idx="3"/>
          </p:cNvCxnSpPr>
          <p:nvPr/>
        </p:nvCxnSpPr>
        <p:spPr>
          <a:xfrm>
            <a:off x="7067945" y="7921999"/>
            <a:ext cx="4804470" cy="1183901"/>
          </a:xfrm>
          <a:prstGeom prst="bentConnector3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1875D46-B90A-ADA4-4CCB-2B9EECBC903C}"/>
              </a:ext>
            </a:extLst>
          </p:cNvPr>
          <p:cNvCxnSpPr>
            <a:cxnSpLocks/>
            <a:endCxn id="48" idx="3"/>
          </p:cNvCxnSpPr>
          <p:nvPr/>
        </p:nvCxnSpPr>
        <p:spPr>
          <a:xfrm rot="5400000" flipH="1" flipV="1">
            <a:off x="11527418" y="3296296"/>
            <a:ext cx="6154602" cy="5464608"/>
          </a:xfrm>
          <a:prstGeom prst="bentConnector4">
            <a:avLst>
              <a:gd name="adj1" fmla="val -133"/>
              <a:gd name="adj2" fmla="val 104183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CD0D9A2C-DBBD-E6F5-3859-CDDD53432B3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5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B2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rgbClr val="B23A6B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47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606040" y="384048"/>
            <a:ext cx="1316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0" b="1" dirty="0">
                <a:solidFill>
                  <a:schemeClr val="tx2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FEASIBILITY AND VIABILITY</a:t>
            </a:r>
            <a:endParaRPr lang="en-US" sz="45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7462" y="1371600"/>
            <a:ext cx="768096" cy="651510"/>
          </a:xfrm>
          <a:prstGeom prst="ellipse">
            <a:avLst/>
          </a:prstGeom>
          <a:solidFill>
            <a:schemeClr val="bg2">
              <a:lumMod val="75000"/>
            </a:schemeClr>
          </a:solidFill>
          <a:ln/>
        </p:spPr>
        <p:txBody>
          <a:bodyPr/>
          <a:lstStyle/>
          <a:p>
            <a:endParaRPr lang="en-IN" sz="2700" dirty="0"/>
          </a:p>
        </p:txBody>
      </p:sp>
      <p:pic>
        <p:nvPicPr>
          <p:cNvPr id="8" name="Image 0" descr="/home/claude/sih/icon_fea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01" y="1474469"/>
            <a:ext cx="453765" cy="45376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38428" y="1330452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617220" y="1920240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90906" y="5255688"/>
            <a:ext cx="768095" cy="8018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IN" sz="2700" dirty="0"/>
          </a:p>
        </p:txBody>
      </p:sp>
      <p:pic>
        <p:nvPicPr>
          <p:cNvPr id="12" name="Image 1" descr="/home/claude/sih/icon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694" y="5424926"/>
            <a:ext cx="569006" cy="5690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48156" y="5407536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617220" y="4142232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17220" y="3695799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50" dirty="0"/>
          </a:p>
        </p:txBody>
      </p:sp>
      <p:sp>
        <p:nvSpPr>
          <p:cNvPr id="18" name="Text 13"/>
          <p:cNvSpPr/>
          <p:nvPr/>
        </p:nvSpPr>
        <p:spPr>
          <a:xfrm>
            <a:off x="617220" y="6364224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138428" y="7996428"/>
            <a:ext cx="76123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50" dirty="0"/>
          </a:p>
        </p:txBody>
      </p:sp>
      <p:sp>
        <p:nvSpPr>
          <p:cNvPr id="22" name="Text 16"/>
          <p:cNvSpPr/>
          <p:nvPr/>
        </p:nvSpPr>
        <p:spPr>
          <a:xfrm>
            <a:off x="617220" y="8586216"/>
            <a:ext cx="81610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8881110" y="1371600"/>
            <a:ext cx="740318" cy="651510"/>
          </a:xfrm>
          <a:prstGeom prst="ellipse">
            <a:avLst/>
          </a:prstGeom>
          <a:solidFill>
            <a:srgbClr val="E07A2C"/>
          </a:solidFill>
          <a:ln/>
        </p:spPr>
        <p:txBody>
          <a:bodyPr/>
          <a:lstStyle/>
          <a:p>
            <a:endParaRPr lang="en-IN" sz="2700" dirty="0"/>
          </a:p>
        </p:txBody>
      </p:sp>
      <p:pic>
        <p:nvPicPr>
          <p:cNvPr id="24" name="Image 4" descr="/home/claude/sih/icon_usecas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0" y="1474470"/>
            <a:ext cx="390906" cy="39090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10928" y="1330452"/>
            <a:ext cx="80238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3600" dirty="0"/>
          </a:p>
        </p:txBody>
      </p:sp>
      <p:sp>
        <p:nvSpPr>
          <p:cNvPr id="26" name="Text 19"/>
          <p:cNvSpPr/>
          <p:nvPr/>
        </p:nvSpPr>
        <p:spPr>
          <a:xfrm>
            <a:off x="9189720" y="1920240"/>
            <a:ext cx="85725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9710928" y="3456432"/>
            <a:ext cx="80238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250" dirty="0"/>
          </a:p>
        </p:txBody>
      </p:sp>
      <p:sp>
        <p:nvSpPr>
          <p:cNvPr id="30" name="Text 22"/>
          <p:cNvSpPr/>
          <p:nvPr/>
        </p:nvSpPr>
        <p:spPr>
          <a:xfrm>
            <a:off x="9189720" y="4046220"/>
            <a:ext cx="85725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6700" indent="-266700">
              <a:lnSpc>
                <a:spcPct val="102000"/>
              </a:lnSpc>
              <a:spcAft>
                <a:spcPts val="450"/>
              </a:spcAft>
              <a:buSzPct val="100000"/>
              <a:buChar char="▪"/>
            </a:pP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9045773" y="4279392"/>
            <a:ext cx="8572500" cy="1772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Facts for Feasibility &amp; Viability</a:t>
            </a:r>
            <a:endParaRPr lang="en-US" sz="3200" dirty="0">
              <a:solidFill>
                <a:schemeClr val="tx2"/>
              </a:solidFill>
            </a:endParaRPr>
          </a:p>
        </p:txBody>
      </p:sp>
      <p:sp>
        <p:nvSpPr>
          <p:cNvPr id="33" name="Text 25"/>
          <p:cNvSpPr/>
          <p:nvPr/>
        </p:nvSpPr>
        <p:spPr>
          <a:xfrm>
            <a:off x="9395460" y="6405372"/>
            <a:ext cx="8023860" cy="326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200"/>
              </a:spcAft>
            </a:pPr>
            <a:endParaRPr lang="en-US" sz="1575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4C55E0E-7C40-544D-07D2-8DEC20434CCD}"/>
              </a:ext>
            </a:extLst>
          </p:cNvPr>
          <p:cNvSpPr txBox="1"/>
          <p:nvPr/>
        </p:nvSpPr>
        <p:spPr>
          <a:xfrm>
            <a:off x="900408" y="1870775"/>
            <a:ext cx="679579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endParaRPr lang="en-IN" sz="1500" b="1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Proven Technology</a:t>
            </a:r>
            <a:r>
              <a:rPr lang="en-IN" sz="2000" dirty="0"/>
              <a:t> – Multi-agent orchestration, open-weight LLMs, RAG and Graph AI are production-ready technologies.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On-Premise Ready</a:t>
            </a:r>
            <a:r>
              <a:rPr lang="en-IN" sz="2000" dirty="0"/>
              <a:t> – Dockerized AI services enable secure deployment in private/air-gapped industrial environments.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Seamless Integration</a:t>
            </a:r>
            <a:r>
              <a:rPr lang="en-IN" sz="2000" dirty="0"/>
              <a:t> – REST APIs, Qdrant, Neo4j and modular AI services support integration with existing enterprise systems.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Scalable Architecture</a:t>
            </a:r>
            <a:r>
              <a:rPr lang="en-IN" sz="2000" dirty="0"/>
              <a:t> – Model-agnostic design allows deployment from lightweight local models to high-performance enterprise models.</a:t>
            </a:r>
          </a:p>
          <a:p>
            <a:endParaRPr lang="en-IN" sz="15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95AB2DA-C8D2-AF53-276D-D5A24ECE56BF}"/>
              </a:ext>
            </a:extLst>
          </p:cNvPr>
          <p:cNvSpPr txBox="1"/>
          <p:nvPr/>
        </p:nvSpPr>
        <p:spPr>
          <a:xfrm>
            <a:off x="864108" y="8605543"/>
            <a:ext cx="5837384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350" b="1" dirty="0"/>
          </a:p>
          <a:p>
            <a:pPr marL="257175" indent="-257175">
              <a:buFont typeface="Arial" panose="020B0604020202020204" pitchFamily="34" charset="0"/>
              <a:buChar char="•"/>
            </a:pPr>
            <a:endParaRPr lang="en-IN" sz="135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24E0522-7CEA-F722-8A79-DC4CBA78FFAB}"/>
              </a:ext>
            </a:extLst>
          </p:cNvPr>
          <p:cNvSpPr txBox="1"/>
          <p:nvPr/>
        </p:nvSpPr>
        <p:spPr>
          <a:xfrm>
            <a:off x="9648860" y="1822020"/>
            <a:ext cx="6276594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200" b="1" dirty="0"/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Intelligent Document Analysis</a:t>
            </a:r>
            <a:r>
              <a:rPr lang="en-IN" sz="2000" dirty="0"/>
              <a:t> – Analyse SOPs, manuals, reports and engineering documents.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Multimodal Inspection</a:t>
            </a:r>
            <a:r>
              <a:rPr lang="en-IN" sz="2000" dirty="0"/>
              <a:t> – Analyse equipment images, diagrams and technical documents using vision models.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Predictive Knowledge Assistance</a:t>
            </a:r>
            <a:r>
              <a:rPr lang="en-IN" sz="2000" dirty="0"/>
              <a:t> – Combine RAG + Neo4j graph memory for contextual equipment insights.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IN" sz="2000" b="1" dirty="0"/>
              <a:t>Automated Industrial Workflows</a:t>
            </a:r>
            <a:r>
              <a:rPr lang="en-IN" sz="2000" dirty="0"/>
              <a:t> – Multi-agent planning, analysis, verification and report generation</a:t>
            </a:r>
            <a:r>
              <a:rPr lang="en-IN" sz="1400" dirty="0"/>
              <a:t>.</a:t>
            </a:r>
          </a:p>
          <a:p>
            <a:endParaRPr lang="en-IN" sz="12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9A41662-4CF2-6282-8A7B-D896CCB4F248}"/>
              </a:ext>
            </a:extLst>
          </p:cNvPr>
          <p:cNvSpPr txBox="1"/>
          <p:nvPr/>
        </p:nvSpPr>
        <p:spPr>
          <a:xfrm>
            <a:off x="9030115" y="5447390"/>
            <a:ext cx="860679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200" b="1" dirty="0"/>
              <a:t>Agentic AI Maturity:</a:t>
            </a:r>
            <a:r>
              <a:rPr lang="en-US" sz="2200" dirty="0"/>
              <a:t> Frameworks such as </a:t>
            </a:r>
            <a:r>
              <a:rPr lang="en-US" sz="2200" b="1" dirty="0"/>
              <a:t>LangGraph/LangChain</a:t>
            </a:r>
            <a:r>
              <a:rPr lang="en-US" sz="2200" dirty="0"/>
              <a:t> provide proven orchestration for multi-agent workflows, tool calling, memory and human-in-the-loop validation.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200" b="1" dirty="0"/>
              <a:t>RAG + Graph AI:</a:t>
            </a:r>
            <a:r>
              <a:rPr lang="en-US" sz="2200" dirty="0"/>
              <a:t> </a:t>
            </a:r>
            <a:r>
              <a:rPr lang="en-US" sz="2200" b="1" dirty="0"/>
              <a:t>Vector databases + Neo4j Graph Memory</a:t>
            </a:r>
            <a:r>
              <a:rPr lang="en-US" sz="2200" dirty="0"/>
              <a:t> enable both semantic document retrieval and relationship-based reasoning across complex industrial knowledge.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200" b="1" dirty="0"/>
              <a:t>Containerized Deployment:</a:t>
            </a:r>
            <a:r>
              <a:rPr lang="en-US" sz="2200" dirty="0"/>
              <a:t> </a:t>
            </a:r>
            <a:r>
              <a:rPr lang="en-US" sz="2200" b="1" dirty="0"/>
              <a:t>Docker-based microservices</a:t>
            </a:r>
            <a:r>
              <a:rPr lang="en-US" sz="2200" dirty="0"/>
              <a:t> allow LLM, RAG, vision, orchestration and databases to be deployed independently and scaled according to available infrastructure. </a:t>
            </a:r>
          </a:p>
          <a:p>
            <a:pPr marL="257175" indent="-257175">
              <a:buFont typeface="Arial" panose="020B0604020202020204" pitchFamily="34" charset="0"/>
              <a:buChar char="•"/>
            </a:pPr>
            <a:r>
              <a:rPr lang="en-US" sz="2200" b="1" dirty="0"/>
              <a:t>Industrial Applicability:</a:t>
            </a:r>
            <a:r>
              <a:rPr lang="en-US" sz="2200" dirty="0"/>
              <a:t> On-premise AI is particularly suitable for </a:t>
            </a:r>
            <a:r>
              <a:rPr lang="en-US" sz="2200" b="1" dirty="0"/>
              <a:t>oil &amp; gas, manufacturing, power and critical infrastructure</a:t>
            </a:r>
            <a:r>
              <a:rPr lang="en-US" sz="2200" dirty="0"/>
              <a:t>, where confidential operational data cannot freely leave the enterprise network. </a:t>
            </a: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2D300A7D-DD5A-3F4D-1FB5-BFD42DD27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11400" y="244602"/>
            <a:ext cx="3040644" cy="8916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CDA37C-2A3A-052F-FF34-8C249304942A}"/>
              </a:ext>
            </a:extLst>
          </p:cNvPr>
          <p:cNvSpPr txBox="1"/>
          <p:nvPr/>
        </p:nvSpPr>
        <p:spPr>
          <a:xfrm>
            <a:off x="900408" y="6051394"/>
            <a:ext cx="6195778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Strong ROI</a:t>
            </a:r>
            <a:r>
              <a:rPr lang="en-US" sz="2000" dirty="0"/>
              <a:t> – Reduces manual analysis, operational overhead and maintenance effort through AI-assisted workflows. </a:t>
            </a:r>
            <a:endParaRPr lang="en-IN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Operational Efficiency</a:t>
            </a:r>
            <a:r>
              <a:rPr lang="en-US" sz="2000" dirty="0"/>
              <a:t> – Multi-agent automation accelerates document analysis, decision-making and knowledge retrieval. </a:t>
            </a:r>
            <a:endParaRPr lang="en-IN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Data Sovereignty</a:t>
            </a:r>
            <a:r>
              <a:rPr lang="en-US" sz="2000" dirty="0"/>
              <a:t> – Sensitive industrial data remains within the organization's infrastructure with no mandatory cloud dependency. </a:t>
            </a:r>
            <a:endParaRPr lang="en-IN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Future-Ready Platform</a:t>
            </a:r>
            <a:r>
              <a:rPr lang="en-US" sz="2000" dirty="0"/>
              <a:t> – Modular architecture supports new models, agents, tools and industrial use cases without redesigning the system. </a:t>
            </a:r>
            <a:endParaRPr lang="en-IN" sz="2000" dirty="0"/>
          </a:p>
          <a:p>
            <a:endParaRPr lang="en-IN" sz="900" dirty="0"/>
          </a:p>
        </p:txBody>
      </p:sp>
      <p:sp>
        <p:nvSpPr>
          <p:cNvPr id="5" name="Shape 22">
            <a:extLst>
              <a:ext uri="{FF2B5EF4-FFF2-40B4-BE49-F238E27FC236}">
                <a16:creationId xmlns:a16="http://schemas.microsoft.com/office/drawing/2014/main" id="{14EB30A9-55BE-786B-4D56-F7B22380705D}"/>
              </a:ext>
            </a:extLst>
          </p:cNvPr>
          <p:cNvSpPr/>
          <p:nvPr/>
        </p:nvSpPr>
        <p:spPr>
          <a:xfrm>
            <a:off x="8316123" y="1474469"/>
            <a:ext cx="78140" cy="8195311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 dirty="0"/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BB04AC3-E016-EEAC-63DD-B332AD8A9B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5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D80E501-9B94-F4FE-4F2B-604515147026}"/>
              </a:ext>
            </a:extLst>
          </p:cNvPr>
          <p:cNvSpPr/>
          <p:nvPr/>
        </p:nvSpPr>
        <p:spPr>
          <a:xfrm>
            <a:off x="8588329" y="4827775"/>
            <a:ext cx="729651" cy="585216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Graphic 15" descr="Checkmark">
            <a:extLst>
              <a:ext uri="{FF2B5EF4-FFF2-40B4-BE49-F238E27FC236}">
                <a16:creationId xmlns:a16="http://schemas.microsoft.com/office/drawing/2014/main" id="{933BC9CC-2CA1-667D-3B6C-2EA45E70E5A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1017" y="4864312"/>
            <a:ext cx="576220" cy="57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05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34">
            <a:extLst>
              <a:ext uri="{FF2B5EF4-FFF2-40B4-BE49-F238E27FC236}">
                <a16:creationId xmlns:a16="http://schemas.microsoft.com/office/drawing/2014/main" id="{DD1EADC1-4885-829C-969A-1E4655A3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113" y="62748"/>
            <a:ext cx="3040644" cy="891618"/>
          </a:xfrm>
          <a:prstGeom prst="rect">
            <a:avLst/>
          </a:prstGeom>
        </p:spPr>
      </p:pic>
      <p:sp>
        <p:nvSpPr>
          <p:cNvPr id="136" name="Text 2">
            <a:extLst>
              <a:ext uri="{FF2B5EF4-FFF2-40B4-BE49-F238E27FC236}">
                <a16:creationId xmlns:a16="http://schemas.microsoft.com/office/drawing/2014/main" id="{1BEE2FDD-62B6-24F4-4709-1F8946E98A3D}"/>
              </a:ext>
            </a:extLst>
          </p:cNvPr>
          <p:cNvSpPr/>
          <p:nvPr/>
        </p:nvSpPr>
        <p:spPr>
          <a:xfrm>
            <a:off x="2233136" y="191452"/>
            <a:ext cx="1289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0" b="1" dirty="0">
                <a:solidFill>
                  <a:srgbClr val="1E2761"/>
                </a:solidFill>
                <a:latin typeface="Arial" panose="020B0604020202020204" pitchFamily="34" charset="0"/>
                <a:ea typeface="Cambria" pitchFamily="34" charset="-122"/>
                <a:cs typeface="Arial" panose="020B0604020202020204" pitchFamily="34" charset="0"/>
              </a:rPr>
              <a:t>IMPACT AND BENEFITS</a:t>
            </a:r>
            <a:endParaRPr lang="en-US" sz="4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image.png">
            <a:extLst>
              <a:ext uri="{FF2B5EF4-FFF2-40B4-BE49-F238E27FC236}">
                <a16:creationId xmlns:a16="http://schemas.microsoft.com/office/drawing/2014/main" id="{02021850-A32F-3C6F-31C9-0F9F2B6D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85900"/>
            <a:ext cx="945104" cy="94510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242CE363-8C73-4DB1-E910-7DBB125DDD90}"/>
              </a:ext>
            </a:extLst>
          </p:cNvPr>
          <p:cNvSpPr txBox="1"/>
          <p:nvPr/>
        </p:nvSpPr>
        <p:spPr>
          <a:xfrm>
            <a:off x="1669004" y="1681452"/>
            <a:ext cx="2571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cs typeface="Arial" panose="020B0604020202020204" pitchFamily="34" charset="0"/>
              </a:rPr>
              <a:t> Impacts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9F63064-6E84-94E2-778C-01CF942EB11F}"/>
              </a:ext>
            </a:extLst>
          </p:cNvPr>
          <p:cNvSpPr/>
          <p:nvPr/>
        </p:nvSpPr>
        <p:spPr>
          <a:xfrm>
            <a:off x="442436" y="1386951"/>
            <a:ext cx="3581400" cy="1143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9" name="Picture 38" descr="image.png">
            <a:extLst>
              <a:ext uri="{FF2B5EF4-FFF2-40B4-BE49-F238E27FC236}">
                <a16:creationId xmlns:a16="http://schemas.microsoft.com/office/drawing/2014/main" id="{F58551FB-3185-E24D-8EB0-4E920AC01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36" y="3098044"/>
            <a:ext cx="3451370" cy="101189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6DFB473-24F9-7B39-CFF1-EDFAEDD243A3}"/>
              </a:ext>
            </a:extLst>
          </p:cNvPr>
          <p:cNvSpPr txBox="1"/>
          <p:nvPr/>
        </p:nvSpPr>
        <p:spPr>
          <a:xfrm>
            <a:off x="555917" y="3241589"/>
            <a:ext cx="2519588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Data Sovereignty</a:t>
            </a:r>
            <a:r>
              <a:rPr lang="en-IN" sz="2400" b="1" dirty="0">
                <a:cs typeface="Arial" panose="020B0604020202020204" pitchFamily="34" charset="0"/>
              </a:rPr>
              <a:t>:</a:t>
            </a:r>
            <a:endParaRPr sz="2400" b="1" dirty="0">
              <a:cs typeface="Arial" panose="020B0604020202020204" pitchFamily="34" charset="0"/>
            </a:endParaRPr>
          </a:p>
        </p:txBody>
      </p:sp>
      <p:pic>
        <p:nvPicPr>
          <p:cNvPr id="68" name="Picture 67" descr="image.png">
            <a:extLst>
              <a:ext uri="{FF2B5EF4-FFF2-40B4-BE49-F238E27FC236}">
                <a16:creationId xmlns:a16="http://schemas.microsoft.com/office/drawing/2014/main" id="{C3B49A54-ECBE-A2BF-938F-0A6C11F70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0953" y="4658010"/>
            <a:ext cx="3283177" cy="10811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1" name="Picture 130" descr="image.png">
            <a:extLst>
              <a:ext uri="{FF2B5EF4-FFF2-40B4-BE49-F238E27FC236}">
                <a16:creationId xmlns:a16="http://schemas.microsoft.com/office/drawing/2014/main" id="{BA8075C3-A0E1-5736-56EF-AF3AEEE6A9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1329712"/>
            <a:ext cx="3276600" cy="95418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3" name="Picture 132" descr="image.png">
            <a:extLst>
              <a:ext uri="{FF2B5EF4-FFF2-40B4-BE49-F238E27FC236}">
                <a16:creationId xmlns:a16="http://schemas.microsoft.com/office/drawing/2014/main" id="{DA84C67C-B6D7-BB13-3464-91B613E8A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320" y="3004899"/>
            <a:ext cx="4135763" cy="8655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7" name="TextBox 136">
            <a:extLst>
              <a:ext uri="{FF2B5EF4-FFF2-40B4-BE49-F238E27FC236}">
                <a16:creationId xmlns:a16="http://schemas.microsoft.com/office/drawing/2014/main" id="{9F6E102B-247D-D3AA-3C72-FE8197343F83}"/>
              </a:ext>
            </a:extLst>
          </p:cNvPr>
          <p:cNvSpPr txBox="1"/>
          <p:nvPr/>
        </p:nvSpPr>
        <p:spPr>
          <a:xfrm>
            <a:off x="2876358" y="4841789"/>
            <a:ext cx="3067241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Zero External Lock-In</a:t>
            </a:r>
            <a:r>
              <a:rPr lang="en-IN" sz="2400" b="1" dirty="0">
                <a:cs typeface="Arial" panose="020B0604020202020204" pitchFamily="34" charset="0"/>
              </a:rPr>
              <a:t>:</a:t>
            </a:r>
            <a:endParaRPr sz="2400" b="1" dirty="0">
              <a:cs typeface="Arial" panose="020B0604020202020204" pitchFamily="34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B4A69E52-B7CD-E8CF-C920-E852F0EEA8F0}"/>
              </a:ext>
            </a:extLst>
          </p:cNvPr>
          <p:cNvSpPr txBox="1"/>
          <p:nvPr/>
        </p:nvSpPr>
        <p:spPr>
          <a:xfrm>
            <a:off x="4976161" y="3165389"/>
            <a:ext cx="3340911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Operational Efficiency</a:t>
            </a:r>
            <a:r>
              <a:rPr lang="en-IN" sz="2400" b="1" dirty="0">
                <a:cs typeface="Arial" panose="020B0604020202020204" pitchFamily="34" charset="0"/>
              </a:rPr>
              <a:t>:</a:t>
            </a:r>
            <a:endParaRPr sz="2400" b="1" dirty="0">
              <a:cs typeface="Arial" panose="020B0604020202020204" pitchFamily="34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BFCC601-ACFC-3521-004C-26C55B160188}"/>
              </a:ext>
            </a:extLst>
          </p:cNvPr>
          <p:cNvSpPr txBox="1"/>
          <p:nvPr/>
        </p:nvSpPr>
        <p:spPr>
          <a:xfrm>
            <a:off x="6336267" y="1476270"/>
            <a:ext cx="2893904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Enforced Governance</a:t>
            </a:r>
            <a:r>
              <a:rPr lang="en-IN" sz="2400" b="1" dirty="0">
                <a:cs typeface="Arial" panose="020B0604020202020204" pitchFamily="34" charset="0"/>
              </a:rPr>
              <a:t>:</a:t>
            </a:r>
            <a:endParaRPr sz="2400" b="1" dirty="0">
              <a:cs typeface="Arial" panose="020B0604020202020204" pitchFamily="34" charset="0"/>
            </a:endParaRPr>
          </a:p>
        </p:txBody>
      </p:sp>
      <p:cxnSp>
        <p:nvCxnSpPr>
          <p:cNvPr id="141" name="Connector: Elbow 140">
            <a:extLst>
              <a:ext uri="{FF2B5EF4-FFF2-40B4-BE49-F238E27FC236}">
                <a16:creationId xmlns:a16="http://schemas.microsoft.com/office/drawing/2014/main" id="{B47C7480-5F60-241B-5E6B-179BB515E55F}"/>
              </a:ext>
            </a:extLst>
          </p:cNvPr>
          <p:cNvCxnSpPr>
            <a:cxnSpLocks/>
            <a:stCxn id="37" idx="2"/>
            <a:endCxn id="39" idx="0"/>
          </p:cNvCxnSpPr>
          <p:nvPr/>
        </p:nvCxnSpPr>
        <p:spPr>
          <a:xfrm rot="5400000">
            <a:off x="1916583" y="2781490"/>
            <a:ext cx="568093" cy="65015"/>
          </a:xfrm>
          <a:prstGeom prst="bentConnector3">
            <a:avLst>
              <a:gd name="adj1" fmla="val -132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Connector: Elbow 142">
            <a:extLst>
              <a:ext uri="{FF2B5EF4-FFF2-40B4-BE49-F238E27FC236}">
                <a16:creationId xmlns:a16="http://schemas.microsoft.com/office/drawing/2014/main" id="{64E671DC-AC49-0C74-041C-000CAA03BC25}"/>
              </a:ext>
            </a:extLst>
          </p:cNvPr>
          <p:cNvCxnSpPr>
            <a:cxnSpLocks/>
          </p:cNvCxnSpPr>
          <p:nvPr/>
        </p:nvCxnSpPr>
        <p:spPr>
          <a:xfrm rot="16200000" flipH="1">
            <a:off x="2596010" y="2847598"/>
            <a:ext cx="2090046" cy="1454752"/>
          </a:xfrm>
          <a:prstGeom prst="bentConnector3">
            <a:avLst>
              <a:gd name="adj1" fmla="val 371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Connector: Elbow 145">
            <a:extLst>
              <a:ext uri="{FF2B5EF4-FFF2-40B4-BE49-F238E27FC236}">
                <a16:creationId xmlns:a16="http://schemas.microsoft.com/office/drawing/2014/main" id="{FFF76719-8D3A-7ED9-D3A8-26EA2B045D26}"/>
              </a:ext>
            </a:extLst>
          </p:cNvPr>
          <p:cNvCxnSpPr>
            <a:cxnSpLocks/>
          </p:cNvCxnSpPr>
          <p:nvPr/>
        </p:nvCxnSpPr>
        <p:spPr>
          <a:xfrm>
            <a:off x="4023374" y="1920982"/>
            <a:ext cx="2089394" cy="1081178"/>
          </a:xfrm>
          <a:prstGeom prst="bentConnector3">
            <a:avLst>
              <a:gd name="adj1" fmla="val 1002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Connector: Elbow 150">
            <a:extLst>
              <a:ext uri="{FF2B5EF4-FFF2-40B4-BE49-F238E27FC236}">
                <a16:creationId xmlns:a16="http://schemas.microsoft.com/office/drawing/2014/main" id="{23CDE073-7D5E-A3BE-C23D-4DF48A5D460B}"/>
              </a:ext>
            </a:extLst>
          </p:cNvPr>
          <p:cNvCxnSpPr>
            <a:cxnSpLocks/>
            <a:stCxn id="37" idx="0"/>
            <a:endCxn id="131" idx="0"/>
          </p:cNvCxnSpPr>
          <p:nvPr/>
        </p:nvCxnSpPr>
        <p:spPr>
          <a:xfrm rot="5400000" flipH="1" flipV="1">
            <a:off x="5031299" y="-1468450"/>
            <a:ext cx="57239" cy="5653564"/>
          </a:xfrm>
          <a:prstGeom prst="bentConnector3">
            <a:avLst>
              <a:gd name="adj1" fmla="val 49937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Rectangle: Rounded Corners 151">
            <a:extLst>
              <a:ext uri="{FF2B5EF4-FFF2-40B4-BE49-F238E27FC236}">
                <a16:creationId xmlns:a16="http://schemas.microsoft.com/office/drawing/2014/main" id="{C16E09E1-AC6B-D9F4-B1EF-28C9B4574B5D}"/>
              </a:ext>
            </a:extLst>
          </p:cNvPr>
          <p:cNvSpPr/>
          <p:nvPr/>
        </p:nvSpPr>
        <p:spPr>
          <a:xfrm>
            <a:off x="442436" y="7048500"/>
            <a:ext cx="3581400" cy="1143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64082902-6350-EBB7-0D58-45BFB4428DB5}"/>
              </a:ext>
            </a:extLst>
          </p:cNvPr>
          <p:cNvSpPr txBox="1"/>
          <p:nvPr/>
        </p:nvSpPr>
        <p:spPr>
          <a:xfrm>
            <a:off x="1667936" y="7313973"/>
            <a:ext cx="2415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cs typeface="Arial" panose="020B0604020202020204" pitchFamily="34" charset="0"/>
              </a:rPr>
              <a:t> Benefits</a:t>
            </a:r>
          </a:p>
        </p:txBody>
      </p:sp>
      <p:pic>
        <p:nvPicPr>
          <p:cNvPr id="154" name="Picture 153" descr="image.png">
            <a:extLst>
              <a:ext uri="{FF2B5EF4-FFF2-40B4-BE49-F238E27FC236}">
                <a16:creationId xmlns:a16="http://schemas.microsoft.com/office/drawing/2014/main" id="{8052ABD8-01BD-3E4D-EC22-EEDBB5CB9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657" y="7076556"/>
            <a:ext cx="1028833" cy="1028833"/>
          </a:xfrm>
          <a:prstGeom prst="rect">
            <a:avLst/>
          </a:prstGeom>
        </p:spPr>
      </p:pic>
      <p:pic>
        <p:nvPicPr>
          <p:cNvPr id="156" name="Picture 155" descr="image.png">
            <a:extLst>
              <a:ext uri="{FF2B5EF4-FFF2-40B4-BE49-F238E27FC236}">
                <a16:creationId xmlns:a16="http://schemas.microsoft.com/office/drawing/2014/main" id="{E362B6FB-2A2D-B458-A42B-4FCDB1AB0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278" y="5667002"/>
            <a:ext cx="3637722" cy="1047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7" name="Picture 156" descr="image.png">
            <a:extLst>
              <a:ext uri="{FF2B5EF4-FFF2-40B4-BE49-F238E27FC236}">
                <a16:creationId xmlns:a16="http://schemas.microsoft.com/office/drawing/2014/main" id="{7A4CCE5F-6AB8-66A7-6208-2C418B7FA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996" y="7100725"/>
            <a:ext cx="3593219" cy="1047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8" name="Picture 157" descr="image.png">
            <a:extLst>
              <a:ext uri="{FF2B5EF4-FFF2-40B4-BE49-F238E27FC236}">
                <a16:creationId xmlns:a16="http://schemas.microsoft.com/office/drawing/2014/main" id="{2758AB95-2ED8-53B5-9190-93B3438800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321" y="8819675"/>
            <a:ext cx="3474932" cy="104700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9" name="Picture 158" descr="image.png">
            <a:extLst>
              <a:ext uri="{FF2B5EF4-FFF2-40B4-BE49-F238E27FC236}">
                <a16:creationId xmlns:a16="http://schemas.microsoft.com/office/drawing/2014/main" id="{3A9483F4-3974-F47B-4206-23635F9937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254" y="8801100"/>
            <a:ext cx="2784158" cy="104700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37E03508-0A3D-3AEF-A237-E88593841053}"/>
              </a:ext>
            </a:extLst>
          </p:cNvPr>
          <p:cNvCxnSpPr>
            <a:cxnSpLocks/>
            <a:stCxn id="152" idx="3"/>
            <a:endCxn id="157" idx="1"/>
          </p:cNvCxnSpPr>
          <p:nvPr/>
        </p:nvCxnSpPr>
        <p:spPr>
          <a:xfrm>
            <a:off x="4023836" y="7620000"/>
            <a:ext cx="2146160" cy="422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F6A111CC-743A-EFBC-3351-D02A283085BF}"/>
              </a:ext>
            </a:extLst>
          </p:cNvPr>
          <p:cNvCxnSpPr>
            <a:cxnSpLocks/>
            <a:stCxn id="152" idx="0"/>
            <a:endCxn id="156" idx="1"/>
          </p:cNvCxnSpPr>
          <p:nvPr/>
        </p:nvCxnSpPr>
        <p:spPr>
          <a:xfrm rot="5400000" flipH="1" flipV="1">
            <a:off x="3821710" y="4601932"/>
            <a:ext cx="857995" cy="403514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Connector: Elbow 174">
            <a:extLst>
              <a:ext uri="{FF2B5EF4-FFF2-40B4-BE49-F238E27FC236}">
                <a16:creationId xmlns:a16="http://schemas.microsoft.com/office/drawing/2014/main" id="{5A618C90-6149-8923-443A-E695E9A90487}"/>
              </a:ext>
            </a:extLst>
          </p:cNvPr>
          <p:cNvCxnSpPr>
            <a:stCxn id="152" idx="2"/>
            <a:endCxn id="159" idx="0"/>
          </p:cNvCxnSpPr>
          <p:nvPr/>
        </p:nvCxnSpPr>
        <p:spPr>
          <a:xfrm rot="16200000" flipH="1">
            <a:off x="2166434" y="8258201"/>
            <a:ext cx="609600" cy="47619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Connector: Elbow 176">
            <a:extLst>
              <a:ext uri="{FF2B5EF4-FFF2-40B4-BE49-F238E27FC236}">
                <a16:creationId xmlns:a16="http://schemas.microsoft.com/office/drawing/2014/main" id="{2856D32A-AEE1-A607-A467-45CD64A19F05}"/>
              </a:ext>
            </a:extLst>
          </p:cNvPr>
          <p:cNvCxnSpPr>
            <a:cxnSpLocks/>
          </p:cNvCxnSpPr>
          <p:nvPr/>
        </p:nvCxnSpPr>
        <p:spPr>
          <a:xfrm>
            <a:off x="4068785" y="7858037"/>
            <a:ext cx="1553213" cy="951703"/>
          </a:xfrm>
          <a:prstGeom prst="bentConnector3">
            <a:avLst>
              <a:gd name="adj1" fmla="val 1020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2" name="TextBox 181">
            <a:extLst>
              <a:ext uri="{FF2B5EF4-FFF2-40B4-BE49-F238E27FC236}">
                <a16:creationId xmlns:a16="http://schemas.microsoft.com/office/drawing/2014/main" id="{A65F4CF2-1E66-2B7F-886D-9FDC3D7B4FC2}"/>
              </a:ext>
            </a:extLst>
          </p:cNvPr>
          <p:cNvSpPr txBox="1"/>
          <p:nvPr/>
        </p:nvSpPr>
        <p:spPr>
          <a:xfrm>
            <a:off x="6331922" y="5832389"/>
            <a:ext cx="3409122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Air-Gapped Data Security</a:t>
            </a:r>
            <a:r>
              <a:rPr lang="en-IN" sz="2400" b="1" dirty="0">
                <a:cs typeface="Arial" panose="020B0604020202020204" pitchFamily="34" charset="0"/>
              </a:rPr>
              <a:t>:</a:t>
            </a:r>
            <a:endParaRPr sz="2400" b="1" dirty="0">
              <a:cs typeface="Arial" panose="020B0604020202020204" pitchFamily="34" charset="0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BD6AA51-BB1F-C3BF-B0CD-3D5C1AF726BE}"/>
              </a:ext>
            </a:extLst>
          </p:cNvPr>
          <p:cNvSpPr txBox="1"/>
          <p:nvPr/>
        </p:nvSpPr>
        <p:spPr>
          <a:xfrm>
            <a:off x="6274442" y="7342627"/>
            <a:ext cx="3250558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Accelerated Operations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5B2E85C5-30F6-723E-EA30-D9C91DD24C41}"/>
              </a:ext>
            </a:extLst>
          </p:cNvPr>
          <p:cNvSpPr txBox="1"/>
          <p:nvPr/>
        </p:nvSpPr>
        <p:spPr>
          <a:xfrm>
            <a:off x="4865983" y="9032789"/>
            <a:ext cx="3414302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Centralized Orchestration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85885B2-0912-E871-5602-571DBE2D37C2}"/>
              </a:ext>
            </a:extLst>
          </p:cNvPr>
          <p:cNvSpPr txBox="1"/>
          <p:nvPr/>
        </p:nvSpPr>
        <p:spPr>
          <a:xfrm>
            <a:off x="1459694" y="9032789"/>
            <a:ext cx="2730341" cy="2255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84"/>
              </a:lnSpc>
            </a:pPr>
            <a:r>
              <a:rPr sz="2400" b="1" dirty="0">
                <a:cs typeface="Arial" panose="020B0604020202020204" pitchFamily="34" charset="0"/>
              </a:rPr>
              <a:t>Reduced Costs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2215969B-FF7B-BFBD-8C99-0051B6D4E28B}"/>
              </a:ext>
            </a:extLst>
          </p:cNvPr>
          <p:cNvSpPr txBox="1"/>
          <p:nvPr/>
        </p:nvSpPr>
        <p:spPr>
          <a:xfrm>
            <a:off x="519467" y="3595239"/>
            <a:ext cx="285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Data stays internal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FE301B40-514D-9BF1-7DDC-C039D601F4F6}"/>
              </a:ext>
            </a:extLst>
          </p:cNvPr>
          <p:cNvSpPr txBox="1"/>
          <p:nvPr/>
        </p:nvSpPr>
        <p:spPr>
          <a:xfrm>
            <a:off x="4935154" y="3413837"/>
            <a:ext cx="39050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Automated inspection workflows</a:t>
            </a:r>
            <a:endParaRPr lang="en-IN" sz="2000" b="1" dirty="0"/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73339168-7C24-FFBE-B61E-4FD402C3601B}"/>
              </a:ext>
            </a:extLst>
          </p:cNvPr>
          <p:cNvSpPr txBox="1"/>
          <p:nvPr/>
        </p:nvSpPr>
        <p:spPr>
          <a:xfrm>
            <a:off x="6373403" y="1826593"/>
            <a:ext cx="285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Role-based compliance</a:t>
            </a:r>
            <a:endParaRPr lang="en-IN" sz="2000" b="1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5DD4695F-A190-058D-20F6-E23888378A20}"/>
              </a:ext>
            </a:extLst>
          </p:cNvPr>
          <p:cNvSpPr txBox="1"/>
          <p:nvPr/>
        </p:nvSpPr>
        <p:spPr>
          <a:xfrm>
            <a:off x="2811921" y="5111346"/>
            <a:ext cx="32831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No 3rd-party dependency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2C6D247E-E39F-6E69-3951-E6F643A00BAC}"/>
              </a:ext>
            </a:extLst>
          </p:cNvPr>
          <p:cNvSpPr txBox="1"/>
          <p:nvPr/>
        </p:nvSpPr>
        <p:spPr>
          <a:xfrm>
            <a:off x="6267816" y="6098392"/>
            <a:ext cx="285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Fully air-gapped</a:t>
            </a:r>
            <a:endParaRPr lang="en-IN" sz="2000" b="1" dirty="0"/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8C34EAE2-911D-1575-197E-E6E01794AFB8}"/>
              </a:ext>
            </a:extLst>
          </p:cNvPr>
          <p:cNvSpPr txBox="1"/>
          <p:nvPr/>
        </p:nvSpPr>
        <p:spPr>
          <a:xfrm>
            <a:off x="6258062" y="7650280"/>
            <a:ext cx="285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Minutes, not days</a:t>
            </a:r>
            <a:endParaRPr lang="en-IN" sz="2000" b="1" dirty="0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EBC3FD69-F886-490E-E5A8-E0B15B66C00C}"/>
              </a:ext>
            </a:extLst>
          </p:cNvPr>
          <p:cNvSpPr txBox="1"/>
          <p:nvPr/>
        </p:nvSpPr>
        <p:spPr>
          <a:xfrm>
            <a:off x="4865983" y="9352021"/>
            <a:ext cx="285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Single glass cockpit</a:t>
            </a:r>
            <a:endParaRPr lang="en-IN" sz="2000" b="1" dirty="0"/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D6A7CAFE-4AAB-7097-ADBB-E5FFCB47B975}"/>
              </a:ext>
            </a:extLst>
          </p:cNvPr>
          <p:cNvSpPr txBox="1"/>
          <p:nvPr/>
        </p:nvSpPr>
        <p:spPr>
          <a:xfrm>
            <a:off x="1317254" y="9386005"/>
            <a:ext cx="28567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No API fees</a:t>
            </a:r>
            <a:endParaRPr lang="en-IN" sz="2000" b="1" dirty="0"/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2EC08667-7869-DEFD-BF59-015A273C216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5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28218E-4832-BDA6-51A0-FEF0A77A1F10}"/>
              </a:ext>
            </a:extLst>
          </p:cNvPr>
          <p:cNvSpPr/>
          <p:nvPr/>
        </p:nvSpPr>
        <p:spPr>
          <a:xfrm>
            <a:off x="10401301" y="1047764"/>
            <a:ext cx="1028700" cy="857012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Graphic 7" descr="Mountains">
            <a:extLst>
              <a:ext uri="{FF2B5EF4-FFF2-40B4-BE49-F238E27FC236}">
                <a16:creationId xmlns:a16="http://schemas.microsoft.com/office/drawing/2014/main" id="{01A5082B-DF05-4DE0-9DB5-C073FB948D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42033" y="1080425"/>
            <a:ext cx="762461" cy="76246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F855AF-514B-4D0E-F4C4-6EEC52F4927C}"/>
              </a:ext>
            </a:extLst>
          </p:cNvPr>
          <p:cNvSpPr txBox="1"/>
          <p:nvPr/>
        </p:nvSpPr>
        <p:spPr>
          <a:xfrm>
            <a:off x="11535899" y="1191127"/>
            <a:ext cx="2571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600" b="1" dirty="0">
                <a:cs typeface="Arial" panose="020B0604020202020204" pitchFamily="34" charset="0"/>
              </a:rPr>
              <a:t> </a:t>
            </a:r>
            <a:r>
              <a:rPr lang="en-IN" sz="3600" b="1" dirty="0"/>
              <a:t>Challenges</a:t>
            </a:r>
            <a:endParaRPr sz="3600" b="1" dirty="0"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F85A6A-370D-F3BB-B4A7-A5FD5B133BD0}"/>
              </a:ext>
            </a:extLst>
          </p:cNvPr>
          <p:cNvSpPr txBox="1"/>
          <p:nvPr/>
        </p:nvSpPr>
        <p:spPr>
          <a:xfrm>
            <a:off x="10340326" y="1968945"/>
            <a:ext cx="78486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Hardware Constraints</a:t>
            </a:r>
            <a:r>
              <a:rPr lang="en-IN" sz="2400" dirty="0"/>
              <a:t> – Large multimodal models require high compute and memory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Data Quality</a:t>
            </a:r>
            <a:r>
              <a:rPr lang="en-IN" sz="2400" dirty="0"/>
              <a:t> – Inconsistent/legacy industrial documents can reduce RAG and AI accuracy.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Integration Complexity</a:t>
            </a:r>
            <a:r>
              <a:rPr lang="en-IN" sz="2400" dirty="0"/>
              <a:t> – Connecting multiple enterprise systems, agents and data sources requires standardized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Model Reliability</a:t>
            </a:r>
            <a:r>
              <a:rPr lang="en-IN" sz="2400" dirty="0"/>
              <a:t> – AI outputs require validation, monitoring and human oversight for critical industrial decisions.</a:t>
            </a:r>
          </a:p>
          <a:p>
            <a:endParaRPr lang="en-IN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0BCC840-5DA0-7C33-E826-89D8956FD75E}"/>
              </a:ext>
            </a:extLst>
          </p:cNvPr>
          <p:cNvSpPr/>
          <p:nvPr/>
        </p:nvSpPr>
        <p:spPr>
          <a:xfrm>
            <a:off x="10472827" y="5849159"/>
            <a:ext cx="1022399" cy="818341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20" name="Graphic 19" descr="Lightbulb">
            <a:extLst>
              <a:ext uri="{FF2B5EF4-FFF2-40B4-BE49-F238E27FC236}">
                <a16:creationId xmlns:a16="http://schemas.microsoft.com/office/drawing/2014/main" id="{26E24D53-1035-DF54-B16E-E0DE212348D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668000" y="5954923"/>
            <a:ext cx="636377" cy="636377"/>
          </a:xfrm>
          <a:prstGeom prst="rect">
            <a:avLst/>
          </a:prstGeom>
        </p:spPr>
      </p:pic>
      <p:pic>
        <p:nvPicPr>
          <p:cNvPr id="22" name="Graphic 21" descr="Lightning bolt">
            <a:extLst>
              <a:ext uri="{FF2B5EF4-FFF2-40B4-BE49-F238E27FC236}">
                <a16:creationId xmlns:a16="http://schemas.microsoft.com/office/drawing/2014/main" id="{059EC72C-3280-92C6-3B16-CA0E993171B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1353" y="1516605"/>
            <a:ext cx="914400" cy="914400"/>
          </a:xfrm>
          <a:prstGeom prst="rect">
            <a:avLst/>
          </a:prstGeom>
        </p:spPr>
      </p:pic>
      <p:pic>
        <p:nvPicPr>
          <p:cNvPr id="24" name="Graphic 23" descr="Coins">
            <a:extLst>
              <a:ext uri="{FF2B5EF4-FFF2-40B4-BE49-F238E27FC236}">
                <a16:creationId xmlns:a16="http://schemas.microsoft.com/office/drawing/2014/main" id="{CB67FE6A-78F8-22F5-711F-9B1ADA65EAB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84659" y="7255585"/>
            <a:ext cx="728830" cy="72883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1E77B23-D0C4-D035-831C-5E91092DFDB9}"/>
              </a:ext>
            </a:extLst>
          </p:cNvPr>
          <p:cNvSpPr txBox="1"/>
          <p:nvPr/>
        </p:nvSpPr>
        <p:spPr>
          <a:xfrm>
            <a:off x="10367042" y="6819900"/>
            <a:ext cx="761615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Model Optimization</a:t>
            </a:r>
            <a:r>
              <a:rPr lang="en-IN" sz="2400" dirty="0"/>
              <a:t> – Use quantized open-weight models and hardware-aware model routing.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Data Pipeline</a:t>
            </a:r>
            <a:r>
              <a:rPr lang="en-IN" sz="2400" dirty="0"/>
              <a:t> – Automated preprocessing, validation, chunking and metadata enrichment before indexing.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Modular Integration</a:t>
            </a:r>
            <a:r>
              <a:rPr lang="en-IN" sz="2400" dirty="0"/>
              <a:t> – Dockerized microservices with REST APIs and standardized interfaces.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400" b="1" dirty="0"/>
              <a:t>Human-in-the-Loop</a:t>
            </a:r>
            <a:r>
              <a:rPr lang="en-IN" sz="2400" dirty="0"/>
              <a:t> – Agent verification, source citations, confidence scores and audit logs for critical outputs.</a:t>
            </a:r>
          </a:p>
          <a:p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1D5387-4A8A-BB62-87FB-3E1EA79CA919}"/>
              </a:ext>
            </a:extLst>
          </p:cNvPr>
          <p:cNvSpPr txBox="1"/>
          <p:nvPr/>
        </p:nvSpPr>
        <p:spPr>
          <a:xfrm>
            <a:off x="11738703" y="5996112"/>
            <a:ext cx="2571302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dirty="0">
                <a:cs typeface="Arial" panose="020B0604020202020204" pitchFamily="34" charset="0"/>
              </a:rPr>
              <a:t> </a:t>
            </a:r>
            <a:r>
              <a:rPr lang="en-US" sz="3600" b="1" dirty="0">
                <a:cs typeface="Arial" panose="020B0604020202020204" pitchFamily="34" charset="0"/>
              </a:rPr>
              <a:t>Solutions</a:t>
            </a:r>
            <a:endParaRPr sz="3600" b="1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15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68424EC-583F-0C32-7DD6-9E280C53A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113" y="62748"/>
            <a:ext cx="3040644" cy="891618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D1E02FCD-C171-B1E4-6900-B8F4311B4B79}"/>
              </a:ext>
            </a:extLst>
          </p:cNvPr>
          <p:cNvSpPr/>
          <p:nvPr/>
        </p:nvSpPr>
        <p:spPr>
          <a:xfrm>
            <a:off x="2233136" y="191452"/>
            <a:ext cx="1289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 AND REFERENCES</a:t>
            </a:r>
            <a:endParaRPr lang="en-US" sz="4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78C29B-F995-5F31-4F84-3BE02189804F}"/>
              </a:ext>
            </a:extLst>
          </p:cNvPr>
          <p:cNvSpPr txBox="1"/>
          <p:nvPr/>
        </p:nvSpPr>
        <p:spPr>
          <a:xfrm>
            <a:off x="756919" y="791229"/>
            <a:ext cx="8114258" cy="938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endParaRPr lang="en-IN" sz="2000" b="1" u="sng" dirty="0"/>
          </a:p>
          <a:p>
            <a:r>
              <a:rPr lang="en-IN" sz="2000" b="1" dirty="0"/>
              <a:t>     			</a:t>
            </a:r>
          </a:p>
          <a:p>
            <a:pPr>
              <a:lnSpc>
                <a:spcPct val="150000"/>
              </a:lnSpc>
            </a:pPr>
            <a:r>
              <a:rPr lang="en-IN" sz="3200" b="1" dirty="0"/>
              <a:t>Research References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AgrospAI: A Data Space for Sovereign Data Sharing and On-Demand AI Services in Agriculture </a:t>
            </a:r>
            <a: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  <a:t> </a:t>
            </a:r>
            <a:r>
              <a:rPr lang="en-IN" sz="1600" b="1" dirty="0">
                <a:latin typeface="Aptos" panose="020B0004020202020204" pitchFamily="34" charset="0"/>
                <a:hlinkClick r:id="rId3"/>
              </a:rPr>
              <a:t>https://www.sciencedirect.com/science/article/pii/S0168169926007866</a:t>
            </a:r>
            <a:r>
              <a:rPr lang="en-IN" sz="1600" b="1" dirty="0">
                <a:latin typeface="Aptos" panose="020B00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Global Health Suffers When Corporate AI Sovereigns Reign</a:t>
            </a:r>
            <a:br>
              <a:rPr lang="en-IN" sz="1600" b="1" dirty="0">
                <a:latin typeface="Aptos" panose="020B0004020202020204" pitchFamily="34" charset="0"/>
              </a:rPr>
            </a:br>
            <a:r>
              <a:rPr lang="en-IN" sz="1600" b="1" dirty="0">
                <a:latin typeface="Aptos" panose="020B0004020202020204" pitchFamily="34" charset="0"/>
                <a:hlinkClick r:id="rId4"/>
              </a:rPr>
              <a:t>https://www.sciencedirect.com/science/article/pii/S2589750026000920</a:t>
            </a:r>
            <a:r>
              <a:rPr lang="en-IN" sz="1600" b="1" dirty="0">
                <a:latin typeface="Aptos" panose="020B00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A Federated Observability Architecture Pattern for Reliable Agentic AI Software Systems Across the AI Software Development Lifecycle (FOAP)</a:t>
            </a:r>
            <a:b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</a:br>
            <a:r>
              <a:rPr lang="en-IN" sz="1600" b="1" dirty="0">
                <a:latin typeface="Aptos" panose="020B0004020202020204" pitchFamily="34" charset="0"/>
                <a:hlinkClick r:id="rId5"/>
              </a:rPr>
              <a:t>https://www.sciencedirect.com/science/article/pii/S0950584926002491</a:t>
            </a:r>
            <a:r>
              <a:rPr lang="en-IN" sz="1600" b="1" dirty="0">
                <a:latin typeface="Aptos" panose="020B00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Maintenance Agentic AI for Industrial Operations and Decision Support</a:t>
            </a:r>
            <a:br>
              <a:rPr lang="en-IN" sz="1600" b="1" dirty="0">
                <a:latin typeface="Aptos" panose="020B0004020202020204" pitchFamily="34" charset="0"/>
              </a:rPr>
            </a:br>
            <a:r>
              <a:rPr lang="en-IN" sz="1600" b="1" dirty="0">
                <a:latin typeface="Aptos" panose="020B0004020202020204" pitchFamily="34" charset="0"/>
                <a:hlinkClick r:id="rId6"/>
              </a:rPr>
              <a:t>https://www.sciencedirect.com/science/article/pii/S0360835226004869</a:t>
            </a:r>
            <a:r>
              <a:rPr lang="en-IN" sz="1600" b="1" dirty="0">
                <a:latin typeface="Aptos" panose="020B00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Multimodal Dynamic Feature Fusion Framework for Human–Robot Audio-Visual Interaction in Complex Construction Conditions</a:t>
            </a:r>
            <a:br>
              <a:rPr lang="en-IN" sz="1600" b="1" dirty="0">
                <a:latin typeface="Aptos" panose="020B0004020202020204" pitchFamily="34" charset="0"/>
              </a:rPr>
            </a:br>
            <a:r>
              <a:rPr lang="en-IN" sz="1600" b="1" dirty="0">
                <a:latin typeface="Aptos" panose="020B0004020202020204" pitchFamily="34" charset="0"/>
                <a:hlinkClick r:id="rId7"/>
              </a:rPr>
              <a:t>https://www.sciencedirect.com/science/article/abs/pii/S0926580526001925</a:t>
            </a:r>
            <a:r>
              <a:rPr lang="en-IN" sz="1600" b="1" dirty="0">
                <a:latin typeface="Aptos" panose="020B0004020202020204" pitchFamily="34" charset="0"/>
              </a:rPr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</a:rPr>
              <a:t>Differentially Private Data Augmentation via LLM Generation with Discriminative and Distribution-Aligned Filtering</a:t>
            </a:r>
            <a:br>
              <a:rPr lang="en-IN" sz="1600" b="1" dirty="0">
                <a:solidFill>
                  <a:schemeClr val="accent6">
                    <a:lumMod val="75000"/>
                  </a:schemeClr>
                </a:solidFill>
                <a:latin typeface="Aptos" panose="020B0004020202020204" pitchFamily="34" charset="0"/>
              </a:rPr>
            </a:br>
            <a:r>
              <a:rPr lang="en-IN" sz="1600" b="1" dirty="0">
                <a:latin typeface="Aptos" panose="020B0004020202020204" pitchFamily="34" charset="0"/>
                <a:hlinkClick r:id="rId8"/>
              </a:rPr>
              <a:t>https://www.sciencedirect.com/science/article/pii/S0893608026001309</a:t>
            </a:r>
            <a:r>
              <a:rPr lang="en-IN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Aptos" panose="020B0004020202020204" pitchFamily="34" charset="0"/>
              </a:rPr>
              <a:t>                </a:t>
            </a:r>
          </a:p>
          <a:p>
            <a:endParaRPr lang="en-IN" sz="1400" b="1" dirty="0"/>
          </a:p>
          <a:p>
            <a:pPr>
              <a:lnSpc>
                <a:spcPct val="150000"/>
              </a:lnSpc>
            </a:pPr>
            <a:r>
              <a:rPr lang="en-IN" sz="3200" b="1" dirty="0">
                <a:cs typeface="Arial Bold" panose="020B0704020202020204" pitchFamily="34" charset="0"/>
              </a:rPr>
              <a:t>Technical References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ChatGPT </a:t>
            </a:r>
            <a:r>
              <a:rPr lang="en-IN" sz="1600" b="1" dirty="0">
                <a:latin typeface="Aptos Display" panose="020B0004020202020204" pitchFamily="34" charset="0"/>
              </a:rPr>
              <a:t>-  </a:t>
            </a:r>
            <a:r>
              <a:rPr lang="en-IN" sz="1600" dirty="0">
                <a:latin typeface="Aptos Display" panose="020B0004020202020204" pitchFamily="34" charset="0"/>
                <a:hlinkClick r:id="rId9"/>
              </a:rPr>
              <a:t>OpenAI ChatGPT</a:t>
            </a:r>
            <a:r>
              <a:rPr lang="en-IN" sz="1600" dirty="0">
                <a:latin typeface="Aptos Display" panose="020B0004020202020204" pitchFamily="34" charset="0"/>
              </a:rPr>
              <a:t>    		</a:t>
            </a: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Claude AI </a:t>
            </a:r>
            <a:r>
              <a:rPr lang="en-IN" sz="1600" b="1" dirty="0">
                <a:latin typeface="Aptos Display" panose="020B0004020202020204" pitchFamily="34" charset="0"/>
              </a:rPr>
              <a:t>-  </a:t>
            </a:r>
            <a:r>
              <a:rPr lang="en-IN" sz="1600" dirty="0">
                <a:latin typeface="Aptos Display" panose="020B0004020202020204" pitchFamily="34" charset="0"/>
                <a:hlinkClick r:id="rId10"/>
              </a:rPr>
              <a:t>Claude AI</a:t>
            </a:r>
            <a:r>
              <a:rPr lang="en-IN" sz="1600" dirty="0">
                <a:latin typeface="Aptos Display" panose="020B0004020202020204" pitchFamily="34" charset="0"/>
              </a:rPr>
              <a:t> 		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YouTube</a:t>
            </a:r>
            <a:r>
              <a:rPr lang="en-IN" sz="1600" b="1" dirty="0">
                <a:solidFill>
                  <a:schemeClr val="accent2"/>
                </a:solidFill>
                <a:latin typeface="Aptos Display" panose="020B0004020202020204" pitchFamily="34" charset="0"/>
              </a:rPr>
              <a:t>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1"/>
              </a:rPr>
              <a:t>YouTube</a:t>
            </a:r>
            <a:r>
              <a:rPr lang="en-IN" sz="1600" dirty="0">
                <a:latin typeface="Aptos Display" panose="020B0004020202020204" pitchFamily="34" charset="0"/>
              </a:rPr>
              <a:t> 			</a:t>
            </a: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Udemy</a:t>
            </a:r>
            <a:r>
              <a:rPr lang="en-IN" sz="1600" b="1" dirty="0">
                <a:latin typeface="Aptos Display" panose="020B0004020202020204" pitchFamily="34" charset="0"/>
              </a:rPr>
              <a:t> - </a:t>
            </a:r>
            <a:r>
              <a:rPr lang="en-IN" sz="1600" dirty="0">
                <a:latin typeface="Aptos Display" panose="020B0004020202020204" pitchFamily="34" charset="0"/>
                <a:hlinkClick r:id="rId12"/>
              </a:rPr>
              <a:t>Udemy</a:t>
            </a:r>
            <a:r>
              <a:rPr lang="en-IN" sz="1600" dirty="0">
                <a:latin typeface="Aptos Display" panose="020B0004020202020204" pitchFamily="34" charset="0"/>
              </a:rPr>
              <a:t> 		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React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3"/>
              </a:rPr>
              <a:t>React Docs</a:t>
            </a:r>
            <a:r>
              <a:rPr lang="en-IN" sz="1600" dirty="0">
                <a:latin typeface="Aptos Display" panose="020B0004020202020204" pitchFamily="34" charset="0"/>
              </a:rPr>
              <a:t> 	</a:t>
            </a: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Node.js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4"/>
              </a:rPr>
              <a:t>Node.js Docs</a:t>
            </a:r>
            <a:r>
              <a:rPr lang="en-IN" sz="1600" dirty="0">
                <a:latin typeface="Aptos Display" panose="020B0004020202020204" pitchFamily="34" charset="0"/>
              </a:rPr>
              <a:t> 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Python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5"/>
              </a:rPr>
              <a:t>Python Docs</a:t>
            </a:r>
            <a:r>
              <a:rPr lang="en-IN" sz="1600" dirty="0">
                <a:latin typeface="Aptos Display" panose="020B0004020202020204" pitchFamily="34" charset="0"/>
              </a:rPr>
              <a:t> 	</a:t>
            </a: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Docker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6"/>
              </a:rPr>
              <a:t>Docker Docs</a:t>
            </a:r>
            <a:r>
              <a:rPr lang="en-IN" sz="1600" dirty="0">
                <a:latin typeface="Aptos Display" panose="020B0004020202020204" pitchFamily="34" charset="0"/>
              </a:rPr>
              <a:t> 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Ollama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7"/>
              </a:rPr>
              <a:t>Ollama Docs</a:t>
            </a:r>
            <a:r>
              <a:rPr lang="en-IN" sz="1600" dirty="0">
                <a:latin typeface="Aptos Display" panose="020B0004020202020204" pitchFamily="34" charset="0"/>
              </a:rPr>
              <a:t> 	</a:t>
            </a: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Lang Graph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8"/>
              </a:rPr>
              <a:t>LangGraph Docs</a:t>
            </a:r>
            <a:r>
              <a:rPr lang="en-IN" sz="1600" dirty="0">
                <a:latin typeface="Aptos Display" panose="020B0004020202020204" pitchFamily="34" charset="0"/>
              </a:rPr>
              <a:t> 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Neo4j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19"/>
              </a:rPr>
              <a:t>Neo4j Docs</a:t>
            </a:r>
            <a:r>
              <a:rPr lang="en-IN" sz="1600" dirty="0">
                <a:latin typeface="Aptos Display" panose="020B0004020202020204" pitchFamily="34" charset="0"/>
              </a:rPr>
              <a:t> 	</a:t>
            </a:r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Agentic Automation (IBM)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20"/>
              </a:rPr>
              <a:t>IBM Agentic Automation</a:t>
            </a:r>
            <a:r>
              <a:rPr lang="en-IN" sz="1600" dirty="0">
                <a:latin typeface="Aptos Display" panose="020B0004020202020204" pitchFamily="34" charset="0"/>
              </a:rPr>
              <a:t> 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Qdrant Vector Database Documentation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21"/>
              </a:rPr>
              <a:t>Qdrant Docs</a:t>
            </a:r>
            <a:endParaRPr lang="en-IN" sz="1600" dirty="0">
              <a:latin typeface="Aptos Display" panose="020B0004020202020204" pitchFamily="34" charset="0"/>
            </a:endParaRP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Open-Source LLM Models for Local Deployment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22"/>
              </a:rPr>
              <a:t>Hugging Face - Run LLMs Locally</a:t>
            </a:r>
            <a:r>
              <a:rPr lang="en-IN" sz="1600" dirty="0">
                <a:latin typeface="Aptos Display" panose="020B0004020202020204" pitchFamily="34" charset="0"/>
              </a:rPr>
              <a:t> </a:t>
            </a:r>
          </a:p>
          <a:p>
            <a:pPr lvl="0"/>
            <a:r>
              <a:rPr lang="en-IN" sz="1600" b="1" dirty="0">
                <a:solidFill>
                  <a:schemeClr val="bg2">
                    <a:lumMod val="10000"/>
                  </a:schemeClr>
                </a:solidFill>
                <a:latin typeface="Aptos Display" panose="020B0004020202020204" pitchFamily="34" charset="0"/>
              </a:rPr>
              <a:t>Cloud Servers vs Physical Servers </a:t>
            </a:r>
            <a:r>
              <a:rPr lang="en-IN" sz="1600" b="1" dirty="0">
                <a:latin typeface="Aptos Display" panose="020B0004020202020204" pitchFamily="34" charset="0"/>
              </a:rPr>
              <a:t>- </a:t>
            </a:r>
            <a:r>
              <a:rPr lang="en-IN" sz="1600" dirty="0">
                <a:latin typeface="Aptos Display" panose="020B0004020202020204" pitchFamily="34" charset="0"/>
                <a:hlinkClick r:id="rId23"/>
              </a:rPr>
              <a:t>Hugging Face - Cloud vs Physical Servers</a:t>
            </a:r>
            <a:endParaRPr lang="en-IN" sz="1600" dirty="0">
              <a:latin typeface="Aptos Display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b="1" dirty="0"/>
          </a:p>
          <a:p>
            <a:endParaRPr lang="en-IN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C3F5E97-ADE1-62D8-755E-319CDB575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5966691"/>
              </p:ext>
            </p:extLst>
          </p:nvPr>
        </p:nvGraphicFramePr>
        <p:xfrm>
          <a:off x="9721622" y="2019301"/>
          <a:ext cx="7809459" cy="8016108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603153">
                  <a:extLst>
                    <a:ext uri="{9D8B030D-6E8A-4147-A177-3AD203B41FA5}">
                      <a16:colId xmlns:a16="http://schemas.microsoft.com/office/drawing/2014/main" val="4041392766"/>
                    </a:ext>
                  </a:extLst>
                </a:gridCol>
                <a:gridCol w="2603153">
                  <a:extLst>
                    <a:ext uri="{9D8B030D-6E8A-4147-A177-3AD203B41FA5}">
                      <a16:colId xmlns:a16="http://schemas.microsoft.com/office/drawing/2014/main" val="1112954183"/>
                    </a:ext>
                  </a:extLst>
                </a:gridCol>
                <a:gridCol w="2603153">
                  <a:extLst>
                    <a:ext uri="{9D8B030D-6E8A-4147-A177-3AD203B41FA5}">
                      <a16:colId xmlns:a16="http://schemas.microsoft.com/office/drawing/2014/main" val="301331087"/>
                    </a:ext>
                  </a:extLst>
                </a:gridCol>
              </a:tblGrid>
              <a:tr h="6397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Existing AI Solutions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solidFill>
                            <a:schemeClr val="bg1"/>
                          </a:solidFill>
                        </a:rPr>
                        <a:t>Our Sovereign AI</a:t>
                      </a:r>
                    </a:p>
                  </a:txBody>
                  <a:tcPr anchor="ctr"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85107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Model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Vendor-locked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Multi-model router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344386"/>
                  </a:ext>
                </a:extLst>
              </a:tr>
              <a:tr h="73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Agentic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Single-task workflows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Multi-step orchestration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994522"/>
                  </a:ext>
                </a:extLst>
              </a:tr>
              <a:tr h="9170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Knowledge Retrieval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Cloud/internet-based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Local RAG (Qdrant)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5227482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Graph Memory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Not available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Neo4j graph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62843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Multimodal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Mostly text-only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Vision + OCR + P&amp;ID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7577175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Tool Execution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Limited tooling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Secure sandbox tools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300800"/>
                  </a:ext>
                </a:extLst>
              </a:tr>
              <a:tr h="73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Output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Text/chat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Reports, code, diagrams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9274254"/>
                  </a:ext>
                </a:extLst>
              </a:tr>
              <a:tr h="7316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Vendor Dependency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High vendor lock-in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Open-weight, self-hosted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6979563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Leaving Org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Persistent egress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Zero data egress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218992"/>
                  </a:ext>
                </a:extLst>
              </a:tr>
              <a:tr h="7107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Privacy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Cloud-processed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Fully on-premise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133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AFD6640D-1636-D6B1-D43E-C5742E2658ED}"/>
              </a:ext>
            </a:extLst>
          </p:cNvPr>
          <p:cNvSpPr txBox="1"/>
          <p:nvPr/>
        </p:nvSpPr>
        <p:spPr>
          <a:xfrm>
            <a:off x="9601200" y="1393546"/>
            <a:ext cx="40705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COMPARISION TABLE</a:t>
            </a:r>
          </a:p>
        </p:txBody>
      </p:sp>
      <p:sp>
        <p:nvSpPr>
          <p:cNvPr id="7" name="Oval 6" descr="Your startup LOGO">
            <a:extLst>
              <a:ext uri="{FF2B5EF4-FFF2-40B4-BE49-F238E27FC236}">
                <a16:creationId xmlns:a16="http://schemas.microsoft.com/office/drawing/2014/main" id="{4B51DC61-7EF4-FBC7-5132-37833B44A90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397561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</a:rPr>
              <a:t>UDAAN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107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1262</Words>
  <Application>Microsoft Office PowerPoint</Application>
  <PresentationFormat>Custom</PresentationFormat>
  <Paragraphs>214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Aptos Display</vt:lpstr>
      <vt:lpstr>Aptos</vt:lpstr>
      <vt:lpstr>Cambria</vt:lpstr>
      <vt:lpstr>Wingdings</vt:lpstr>
      <vt:lpstr>Garamond Bold</vt:lpstr>
      <vt:lpstr>Calibri</vt:lpstr>
      <vt:lpstr>Arial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Your Team Name</dc:title>
  <dc:creator>avinash bharti</dc:creator>
  <cp:lastModifiedBy>Avinash Bharti</cp:lastModifiedBy>
  <cp:revision>15</cp:revision>
  <dcterms:created xsi:type="dcterms:W3CDTF">2006-08-16T00:00:00Z</dcterms:created>
  <dcterms:modified xsi:type="dcterms:W3CDTF">2026-09-07T12:54:39Z</dcterms:modified>
  <dc:identifier>DAHUKC-1c3w</dc:identifier>
</cp:coreProperties>
</file>